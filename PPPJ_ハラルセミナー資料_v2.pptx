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訪日外客数（万人）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訪日外客数(万人)</c:v>
                </c:pt>
              </c:strCache>
            </c:strRef>
          </c:tx>
          <c:spPr>
            <a:ln w="31750">
              <a:solidFill>
                <a:srgbClr val="1B3A5C"/>
              </a:solidFill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1974</c:v>
                </c:pt>
                <c:pt idx="1">
                  <c:v>2404</c:v>
                </c:pt>
                <c:pt idx="2">
                  <c:v>2869</c:v>
                </c:pt>
                <c:pt idx="3">
                  <c:v>3119</c:v>
                </c:pt>
                <c:pt idx="4">
                  <c:v>3188</c:v>
                </c:pt>
                <c:pt idx="5">
                  <c:v>412</c:v>
                </c:pt>
                <c:pt idx="6">
                  <c:v>25</c:v>
                </c:pt>
                <c:pt idx="7">
                  <c:v>383</c:v>
                </c:pt>
                <c:pt idx="8">
                  <c:v>2507</c:v>
                </c:pt>
                <c:pt idx="9">
                  <c:v>3687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ハラル導入後 月別売上指数（1月=100）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spPr>
            <a:solidFill>
              <a:srgbClr val="1B3A5C"/>
            </a:solidFill>
          </c:spPr>
          <c:dPt>
            <c:idx val="8"/>
            <c:spPr>
              <a:solidFill>
                <a:srgbClr val="C9A227"/>
              </a:solidFill>
            </c:spPr>
          </c:dPt>
          <c:cat>
            <c:strRef>
              <c:f>Sheet1!$A$2:$A$11</c:f>
              <c:strCache>
                <c:ptCount val="10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104</c:v>
                </c:pt>
                <c:pt idx="2">
                  <c:v>163</c:v>
                </c:pt>
                <c:pt idx="3">
                  <c:v>137</c:v>
                </c:pt>
                <c:pt idx="4">
                  <c:v>129</c:v>
                </c:pt>
                <c:pt idx="5">
                  <c:v>154</c:v>
                </c:pt>
                <c:pt idx="6">
                  <c:v>138</c:v>
                </c:pt>
                <c:pt idx="7">
                  <c:v>146</c:v>
                </c:pt>
                <c:pt idx="8">
                  <c:v>178</c:v>
                </c:pt>
                <c:pt idx="9">
                  <c:v>174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ハラル導入後 月別売上指数（6月=100）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spPr>
            <a:solidFill>
              <a:srgbClr val="1B3A5C"/>
            </a:solidFill>
          </c:spPr>
          <c:dPt>
            <c:idx val="5"/>
            <c:spPr>
              <a:solidFill>
                <a:srgbClr val="C9A227"/>
              </a:solidFill>
            </c:spPr>
          </c:dPt>
          <c:cat>
            <c:strRef>
              <c:f>Sheet1!$A$2:$A$7</c:f>
              <c:strCache>
                <c:ptCount val="6"/>
                <c:pt idx="0">
                  <c:v>6月</c:v>
                </c:pt>
                <c:pt idx="1">
                  <c:v>7月</c:v>
                </c:pt>
                <c:pt idx="2">
                  <c:v>8月</c:v>
                </c:pt>
                <c:pt idx="3">
                  <c:v>9月</c:v>
                </c:pt>
                <c:pt idx="4">
                  <c:v>10月</c:v>
                </c:pt>
                <c:pt idx="5">
                  <c:v>11月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233</c:v>
                </c:pt>
                <c:pt idx="2">
                  <c:v>185</c:v>
                </c:pt>
                <c:pt idx="3">
                  <c:v>185</c:v>
                </c:pt>
                <c:pt idx="4">
                  <c:v>271</c:v>
                </c:pt>
                <c:pt idx="5">
                  <c:v>330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C8C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109728"/>
            <a:ext cx="11969496" cy="3255264"/>
          </a:xfrm>
          <a:prstGeom prst="rect">
            <a:avLst/>
          </a:prstGeom>
          <a:noFill/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" y="1508760"/>
            <a:ext cx="11969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📷 写真をここに挿入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73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227"/>
                </a:solidFill>
              </a:rPr>
              <a:t>PPPJ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474720"/>
            <a:ext cx="12188952" cy="635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3A5C"/>
                </a:solidFill>
              </a:rPr>
              <a:t>"選ばれる飲食店"は、なぜ世界基準に変わり始めているのか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訪日外国人4,000万人時代を生き残るための「ハラル対応」戦略セミナー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28632" y="5349240"/>
            <a:ext cx="2286000" cy="822960"/>
          </a:xfrm>
          <a:prstGeom prst="rect">
            <a:avLst/>
          </a:prstGeom>
          <a:solidFill>
            <a:srgbClr val="1B3A5C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28632" y="541324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227"/>
                </a:solidFill>
              </a:rPr>
              <a:t>PPPJ　プレミアム・プロ・ピープル・ジャパン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本日のゴール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C35A"/>
                </a:solidFill>
              </a:rPr>
              <a:t>この15分で、あなたの行動が変わります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1248156" y="1463040"/>
            <a:ext cx="30175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48156" y="1463040"/>
            <a:ext cx="3017520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8156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227"/>
                </a:solidFill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8156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5C"/>
                </a:solidFill>
              </a:rPr>
              <a:t>現状を知る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8156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訪日客の波と
ハラル市場の実態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3108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3A5C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85716" y="1463040"/>
            <a:ext cx="30175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85716" y="1463040"/>
            <a:ext cx="3017520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5716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227"/>
                </a:solidFill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5716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5C"/>
                </a:solidFill>
              </a:rPr>
              <a:t>可能性を見る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5716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実績店舗の
売上データを確認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0668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3A5C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3276" y="1463040"/>
            <a:ext cx="30175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23276" y="1463040"/>
            <a:ext cx="3017520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3276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227"/>
                </a:solidFill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3276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5C"/>
                </a:solidFill>
              </a:rPr>
              <a:t>行動を決める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3276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PPPJと共に
最初の一歩を踏み出す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200400"/>
            <a:ext cx="10360152" cy="1371600"/>
          </a:xfrm>
          <a:prstGeom prst="rect">
            <a:avLst/>
          </a:prstGeom>
          <a:solidFill>
            <a:srgbClr val="1B3A5C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474720"/>
            <a:ext cx="99943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今日15分で、売上が変わるきっかけをつかんでいってください。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あなたの店に、チャンスは来ていますか？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6003036" cy="5120640"/>
          </a:xfrm>
          <a:prstGeom prst="rect">
            <a:avLst/>
          </a:prstGeom>
          <a:solidFill>
            <a:srgbClr val="C8C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1389888"/>
            <a:ext cx="5783580" cy="4901184"/>
          </a:xfrm>
          <a:prstGeom prst="rect">
            <a:avLst/>
          </a:prstGeom>
          <a:noFill/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3611880"/>
            <a:ext cx="57835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📷 写真をここに挿入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5916" y="1463040"/>
            <a:ext cx="58201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5C"/>
                </a:solidFill>
              </a:rPr>
              <a:t>先月、あなたの店に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28800"/>
            <a:ext cx="58201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A5C"/>
                </a:solidFill>
              </a:rPr>
              <a:t>外国人のお客様は何人来ましたか？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2331720"/>
            <a:ext cx="3492093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2468880"/>
            <a:ext cx="58201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5C"/>
                </a:solidFill>
              </a:rPr>
              <a:t>その数字、来年は何倍になっていますか？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5916" y="3291840"/>
            <a:ext cx="5820156" cy="1645920"/>
          </a:xfrm>
          <a:prstGeom prst="rect">
            <a:avLst/>
          </a:prstGeom>
          <a:solidFill>
            <a:srgbClr val="F0F0F0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3076" y="3383280"/>
            <a:ext cx="55458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5C"/>
                </a:solidFill>
              </a:rPr>
              <a:t>訪日外国人数の推移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3657600"/>
            <a:ext cx="29100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5C"/>
                </a:solidFill>
              </a:rPr>
              <a:t>3,687万人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4069080"/>
            <a:ext cx="29100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（2024年実績）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5994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7474" y="3657600"/>
            <a:ext cx="261907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D6A4F"/>
                </a:solidFill>
              </a:rPr>
              <a:t>4,000万人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7474" y="4069080"/>
            <a:ext cx="261907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（2025年予測）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訪日外国人数の推移（2015-2024）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C35A"/>
                </a:solidFill>
              </a:rPr>
              <a:t>波は来ている。問題は、受け取れているかどうかだ。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280160"/>
          <a:ext cx="755715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172200"/>
            <a:ext cx="75571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※2020-2022はコロナ禍による激減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2369" y="1280160"/>
            <a:ext cx="4113702" cy="2665476"/>
          </a:xfrm>
          <a:prstGeom prst="rect">
            <a:avLst/>
          </a:prstGeom>
          <a:solidFill>
            <a:srgbClr val="C8C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02097" y="1389888"/>
            <a:ext cx="3894246" cy="2446020"/>
          </a:xfrm>
          <a:prstGeom prst="rect">
            <a:avLst/>
          </a:prstGeom>
          <a:noFill/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2097" y="2384298"/>
            <a:ext cx="389424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📷 写真をここに挿入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92369" y="4187952"/>
            <a:ext cx="4113702" cy="1938528"/>
          </a:xfrm>
          <a:prstGeom prst="rect">
            <a:avLst/>
          </a:prstGeom>
          <a:solidFill>
            <a:srgbClr val="1B3A5C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3809" y="4325112"/>
            <a:ext cx="393082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波は来ている。
問題は、受け取れているかどうかだ。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訪日外国人が求めるもの —「日本食」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5957316" cy="5212080"/>
          </a:xfrm>
          <a:prstGeom prst="rect">
            <a:avLst/>
          </a:prstGeom>
          <a:solidFill>
            <a:srgbClr val="C8C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1389888"/>
            <a:ext cx="5737860" cy="4992624"/>
          </a:xfrm>
          <a:prstGeom prst="rect">
            <a:avLst/>
          </a:prstGeom>
          <a:noFill/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3657600"/>
            <a:ext cx="57378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📷 写真をここに挿入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5916" y="1554480"/>
            <a:ext cx="58201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C9A227"/>
                </a:solidFill>
              </a:rPr>
              <a:t>78%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7931" y="2880360"/>
            <a:ext cx="4656124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5916" y="3017520"/>
            <a:ext cx="58201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5C"/>
                </a:solidFill>
              </a:rPr>
              <a:t>訪日外国人が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5916" y="3429000"/>
            <a:ext cx="58201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5C"/>
                </a:solidFill>
              </a:rPr>
              <a:t>「日本食を楽しむこと」を目的に来日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916" y="4114800"/>
            <a:ext cx="58201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出典：観光庁 訪日外国人消費動向調査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5916" y="4480560"/>
            <a:ext cx="5820156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7356" y="4526280"/>
            <a:ext cx="56372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5C"/>
                </a:solidFill>
              </a:rPr>
              <a:t>日本食は最大の観光資源 —
あなたの店はその恩恵を受けていますか？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見えない壁 ——「ムスリムのお客様」が食べられない現実</a:t>
            </a:r>
          </a:p>
        </p:txBody>
      </p:sp>
      <p:sp>
        <p:nvSpPr>
          <p:cNvPr id="5" name="Rectangle 4"/>
          <p:cNvSpPr/>
          <p:nvPr/>
        </p:nvSpPr>
        <p:spPr>
          <a:xfrm>
            <a:off x="8805672" y="1280160"/>
            <a:ext cx="3200400" cy="1828800"/>
          </a:xfrm>
          <a:prstGeom prst="rect">
            <a:avLst/>
          </a:prstGeom>
          <a:solidFill>
            <a:srgbClr val="C8C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15400" y="1389888"/>
            <a:ext cx="2980944" cy="1609344"/>
          </a:xfrm>
          <a:prstGeom prst="rect">
            <a:avLst/>
          </a:prstGeom>
          <a:noFill/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0" y="1965960"/>
            <a:ext cx="29809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📷 写真をここに挿入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73152" cy="13716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81655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1">
                <a:solidFill>
                  <a:srgbClr val="1B3A5C"/>
                </a:solidFill>
              </a:rPr>
              <a:t>"食べたいのに、食べられない。"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8165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——ムスリム旅行者が日本で直面する最大の課題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83280"/>
            <a:ext cx="3636264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383280"/>
            <a:ext cx="3636264" cy="91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566160"/>
            <a:ext cx="36362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227"/>
                </a:solidFill>
              </a:rPr>
              <a:t>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43400"/>
            <a:ext cx="36362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3A5C"/>
                </a:solidFill>
              </a:rPr>
              <a:t>訪日ムスリムが食事
に困ったと回答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84904" y="3383280"/>
            <a:ext cx="3636264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84904" y="3383280"/>
            <a:ext cx="3636264" cy="91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4904" y="3566160"/>
            <a:ext cx="36362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227"/>
                </a:solidFill>
              </a:rPr>
              <a:t>150万人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4904" y="4343400"/>
            <a:ext cx="36362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3A5C"/>
                </a:solidFill>
              </a:rPr>
              <a:t>年間訪日ムスリム数
（推計）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4048" y="3383280"/>
            <a:ext cx="3636264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4048" y="3383280"/>
            <a:ext cx="3636264" cy="91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4048" y="3566160"/>
            <a:ext cx="36362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227"/>
                </a:solidFill>
              </a:rPr>
              <a:t>22億人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4048" y="4343400"/>
            <a:ext cx="36362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3A5C"/>
                </a:solidFill>
              </a:rPr>
              <a:t>世界のムスリム人口
世界人口の約28%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競争構造の変化 —— ハラル対応が「差別化」から「必須」へ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91556" cy="5029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55915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〈 BEFORE 〉ハラル対応なし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591556" cy="50292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408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✕  外国人グループから除外される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559155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5408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✕  SNSでネガティブ投稿のリスク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26080"/>
            <a:ext cx="5591556" cy="50292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5408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✕  予約・問い合わせゼロ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74720"/>
            <a:ext cx="559155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5408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✕  インバウンド売上ゼロ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5591556" cy="50292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5408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✕  国内客減少を補う手段なし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280160"/>
            <a:ext cx="5591556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1636" y="1325880"/>
            <a:ext cx="55915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</a:rPr>
              <a:t>〈 AFTER 〉ハラル対応あり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1828800"/>
            <a:ext cx="5591556" cy="50292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3076" y="1920240"/>
            <a:ext cx="5408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</a:rPr>
              <a:t>✓  ムスリム客グループが来店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2377440"/>
            <a:ext cx="559155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3076" y="2468880"/>
            <a:ext cx="5408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</a:rPr>
              <a:t>✓  SNSで口コミ・拡散が生まれる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1636" y="2926080"/>
            <a:ext cx="5591556" cy="50292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3076" y="3017520"/>
            <a:ext cx="5408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</a:rPr>
              <a:t>✓  海外からの予約が増加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6" y="3474720"/>
            <a:ext cx="559155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3076" y="3566160"/>
            <a:ext cx="5408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</a:rPr>
              <a:t>✓  月商+100%以上の事例あり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1636" y="4023360"/>
            <a:ext cx="5591556" cy="50292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3076" y="4114800"/>
            <a:ext cx="5408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</a:rPr>
              <a:t>✓  先行者として市場を独占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4748" y="2651760"/>
            <a:ext cx="201168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4748" y="29718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日本のハラル対応飲食店の現状 —— まだ1%以下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C9A227"/>
                </a:solidFill>
              </a:rPr>
              <a:t>1%以下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5C"/>
                </a:solidFill>
              </a:rPr>
              <a:t>日本の飲食店のうち
ハラル認証取得店の割合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463040"/>
            <a:ext cx="5971032" cy="1005840"/>
          </a:xfrm>
          <a:prstGeom prst="rect">
            <a:avLst/>
          </a:prstGeom>
          <a:solidFill>
            <a:srgbClr val="1B3A5C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554480"/>
            <a:ext cx="5788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99%が非対応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51760"/>
            <a:ext cx="5971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5555"/>
                </a:solidFill>
              </a:rPr>
              <a:t>👤👤👤👤👤👤👤👤👤👤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017520"/>
            <a:ext cx="5971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5555"/>
                </a:solidFill>
              </a:rPr>
              <a:t>👤👤👤👤👤👤👤👤👤👤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383280"/>
            <a:ext cx="5971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55555"/>
                </a:solidFill>
              </a:rPr>
              <a:t>👤👤👤👤👤👤👤👤👤🌟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794760"/>
            <a:ext cx="5971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（100店中、認証あり: 1店未満）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206240"/>
            <a:ext cx="5971032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4251960"/>
            <a:ext cx="5788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3A5C"/>
                </a:solidFill>
              </a:rPr>
              <a:t>認証取得店舗数: 242店（2019年時点）
全国飲食店数の0.04%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760720"/>
            <a:ext cx="11640312" cy="7772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80644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5C"/>
                </a:solidFill>
              </a:rPr>
              <a:t>これは「危機」ではなく「チャンス」 —— 先に動いた者が市場を独占する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よくある失敗パターン —— 認証だけでは売れない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54480"/>
            <a:ext cx="1645920" cy="685800"/>
          </a:xfrm>
          <a:prstGeom prst="rect">
            <a:avLst/>
          </a:prstGeom>
          <a:solidFill>
            <a:srgbClr val="F0F0F0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</a:rPr>
              <a:t>認証取得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554480"/>
            <a:ext cx="1645920" cy="685800"/>
          </a:xfrm>
          <a:prstGeom prst="rect">
            <a:avLst/>
          </a:prstGeom>
          <a:solidFill>
            <a:srgbClr val="F0F0F0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6642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</a:rPr>
              <a:t>発信なし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3474720"/>
            <a:ext cx="1645920" cy="685800"/>
          </a:xfrm>
          <a:prstGeom prst="rect">
            <a:avLst/>
          </a:prstGeom>
          <a:solidFill>
            <a:srgbClr val="F0F0F0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35844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</a:rPr>
              <a:t>誰にも知られない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474720"/>
            <a:ext cx="1645920" cy="685800"/>
          </a:xfrm>
          <a:prstGeom prst="rect">
            <a:avLst/>
          </a:prstGeom>
          <a:solidFill>
            <a:srgbClr val="F0F0F0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</a:rPr>
              <a:t>来店ゼロ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5C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5C"/>
                </a:solidFill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5C"/>
                </a:solidFill>
              </a:rPr>
              <a:t>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5C"/>
                </a:solidFill>
              </a:rPr>
              <a:t>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651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</a:rPr>
              <a:t>「認証だけ」
失敗サイクル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5513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5C"/>
                </a:solidFill>
              </a:rPr>
              <a:t>具体的な失敗例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737360"/>
            <a:ext cx="3308299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874520"/>
            <a:ext cx="5513832" cy="54864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965960"/>
            <a:ext cx="5330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✕  認証を取ったが告知しなかった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468880"/>
            <a:ext cx="551383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60320"/>
            <a:ext cx="5330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✕  日本語のみのメニュー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063240"/>
            <a:ext cx="5513832" cy="54864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154680"/>
            <a:ext cx="5330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✕  SNS・Googleが未整備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657600"/>
            <a:ext cx="551383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749040"/>
            <a:ext cx="5330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✕  スタッフが説明できない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251960"/>
            <a:ext cx="5513832" cy="54864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343400"/>
            <a:ext cx="5330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✕  ハラル食材の調達が不安定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846320"/>
            <a:ext cx="551383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937760"/>
            <a:ext cx="5330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74C3C"/>
                </a:solidFill>
              </a:rPr>
              <a:t>✕  外国語対応ゼロ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PPPJ 支援店舗タイムライン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C35A"/>
                </a:solidFill>
              </a:rPr>
              <a:t>2025年〜2026年 実績店舗の軌跡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274552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" y="3442716"/>
            <a:ext cx="137160" cy="137160"/>
          </a:xfrm>
          <a:prstGeom prst="rect">
            <a:avLst/>
          </a:prstGeom>
          <a:solidFill>
            <a:srgbClr val="C9A22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-457200" y="1645920"/>
            <a:ext cx="18288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365760" y="173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227"/>
                </a:solidFill>
              </a:rPr>
              <a:t>2025.02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365760" y="2057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将泰庵
神田店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3200400"/>
            <a:ext cx="36576" cy="3429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43530" y="3442716"/>
            <a:ext cx="137160" cy="137160"/>
          </a:xfrm>
          <a:prstGeom prst="rect">
            <a:avLst/>
          </a:prstGeom>
          <a:solidFill>
            <a:srgbClr val="1B3A5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3822" y="3579876"/>
            <a:ext cx="36576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97710" y="3840480"/>
            <a:ext cx="18288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89150" y="3931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227"/>
                </a:solidFill>
              </a:rPr>
              <a:t>2025.06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9150" y="4251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将泰庵
池袋店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8440" y="3442716"/>
            <a:ext cx="137160" cy="137160"/>
          </a:xfrm>
          <a:prstGeom prst="rect">
            <a:avLst/>
          </a:prstGeom>
          <a:solidFill>
            <a:srgbClr val="C9A22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52620" y="1645920"/>
            <a:ext cx="18288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44060" y="173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227"/>
                </a:solidFill>
              </a:rPr>
              <a:t>2025.10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4060" y="2057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銀座のステーキ
恵比寿店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48732" y="3200400"/>
            <a:ext cx="36576" cy="3429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53351" y="3442716"/>
            <a:ext cx="137160" cy="137160"/>
          </a:xfrm>
          <a:prstGeom prst="rect">
            <a:avLst/>
          </a:prstGeom>
          <a:solidFill>
            <a:srgbClr val="1B3A5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03643" y="3579876"/>
            <a:ext cx="36576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7531" y="3840480"/>
            <a:ext cx="18288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8971" y="3931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227"/>
                </a:solidFill>
              </a:rPr>
              <a:t>2025.11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8971" y="4251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銀座のステーキ
新宿店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08261" y="3442716"/>
            <a:ext cx="137160" cy="137160"/>
          </a:xfrm>
          <a:prstGeom prst="rect">
            <a:avLst/>
          </a:prstGeom>
          <a:solidFill>
            <a:srgbClr val="C9A22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62441" y="1645920"/>
            <a:ext cx="18288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53881" y="173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227"/>
                </a:solidFill>
              </a:rPr>
              <a:t>2025.11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3881" y="2057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銀座のステーキ
渋谷店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58553" y="3200400"/>
            <a:ext cx="36576" cy="3429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663172" y="3442716"/>
            <a:ext cx="137160" cy="137160"/>
          </a:xfrm>
          <a:prstGeom prst="rect">
            <a:avLst/>
          </a:prstGeom>
          <a:solidFill>
            <a:srgbClr val="1B3A5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713464" y="3579876"/>
            <a:ext cx="36576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817352" y="3840480"/>
            <a:ext cx="18288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08792" y="3931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227"/>
                </a:solidFill>
              </a:rPr>
              <a:t>2026.01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08792" y="4251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川品
浅草店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【実績①】将泰庵 神田店 —— ハラル対応後の売上推移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822960"/>
          </a:xfrm>
          <a:prstGeom prst="rect">
            <a:avLst/>
          </a:prstGeom>
          <a:solidFill>
            <a:srgbClr val="C8C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1389888"/>
            <a:ext cx="11969496" cy="603504"/>
          </a:xfrm>
          <a:prstGeom prst="rect">
            <a:avLst/>
          </a:prstGeom>
          <a:noFill/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1463040"/>
            <a:ext cx="11969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📷 店舗写真をここに挿入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2148840"/>
          <a:ext cx="7557150" cy="3977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892369" y="2148840"/>
            <a:ext cx="4113702" cy="1188720"/>
          </a:xfrm>
          <a:prstGeom prst="rect">
            <a:avLst/>
          </a:prstGeom>
          <a:solidFill>
            <a:srgbClr val="1B3A5C"/>
          </a:solidFill>
          <a:ln w="381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3809" y="2240280"/>
            <a:ext cx="393082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A227"/>
                </a:solidFill>
              </a:rPr>
              <a:t>178%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3809" y="2926080"/>
            <a:ext cx="393082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最高月（9月）実績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92369" y="3429000"/>
            <a:ext cx="4113702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3809" y="3520440"/>
            <a:ext cx="393082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3A5C"/>
                </a:solidFill>
              </a:rPr>
              <a:t>🌟 インフルエンサー施策
3-4月にムスリム
インフルエンサーを導入
→ SNS拡散で来客急増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92369" y="4572000"/>
            <a:ext cx="411370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3809" y="4617720"/>
            <a:ext cx="393082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6A4F"/>
                </a:solidFill>
              </a:rPr>
              <a:t>✓ 認証取得: 2025年2月
✓ ハラル食材導入完了
✓ 英語メニュー整備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将泰庵 神田店 —— 成功の三段階メカニズム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25603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560320" cy="1097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5C"/>
                </a:solidFill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057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3A5C"/>
                </a:solidFill>
              </a:rPr>
              <a:t>認証取得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14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227"/>
                </a:solidFill>
              </a:rPr>
              <a:t>（2025年2月）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889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・PPPJ認証取得
・ハラル食材切替
・スタッフ教育完了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22860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3A5C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554480"/>
            <a:ext cx="25603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08960" y="1554480"/>
            <a:ext cx="2560320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227"/>
                </a:solidFill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057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3A5C"/>
                </a:solidFill>
              </a:rPr>
              <a:t>インフルエンサー
導入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514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227"/>
                </a:solidFill>
              </a:rPr>
              <a:t>（3-4月）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7889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・ムスリム系
　インフルエンサー招致
・SNS拡散施策
・Google MEO強化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6712" y="22860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3A5C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554480"/>
            <a:ext cx="25603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1554480"/>
            <a:ext cx="2560320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D6A4F"/>
                </a:solidFill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057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3A5C"/>
                </a:solidFill>
              </a:rPr>
              <a:t>常時100%越え
定着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514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227"/>
                </a:solidFill>
              </a:rPr>
              <a:t>（5月〜）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7889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・口コミ効果持続
・リピーター獲得
・グループ予約増加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94760"/>
            <a:ext cx="8229600" cy="5943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8862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5C"/>
                </a:solidFill>
              </a:rPr>
              <a:t>→ 結果: 最大178%売上アップ ／ 月平均145%以上を維持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1280160"/>
            <a:ext cx="3227832" cy="5120640"/>
          </a:xfrm>
          <a:prstGeom prst="rect">
            <a:avLst/>
          </a:prstGeom>
          <a:solidFill>
            <a:srgbClr val="C8C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389888"/>
            <a:ext cx="3008376" cy="4901184"/>
          </a:xfrm>
          <a:prstGeom prst="rect">
            <a:avLst/>
          </a:prstGeom>
          <a:noFill/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87968" y="3611880"/>
            <a:ext cx="3008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📷 写真をここに挿入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【実績②】将泰庵 池袋店 —— 神田モデルの横展開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822960"/>
          </a:xfrm>
          <a:prstGeom prst="rect">
            <a:avLst/>
          </a:prstGeom>
          <a:solidFill>
            <a:srgbClr val="C8C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1389888"/>
            <a:ext cx="11969496" cy="603504"/>
          </a:xfrm>
          <a:prstGeom prst="rect">
            <a:avLst/>
          </a:prstGeom>
          <a:noFill/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1463040"/>
            <a:ext cx="11969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📷 店舗写真をここに挿入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2148840"/>
          <a:ext cx="7557150" cy="3977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892369" y="2148840"/>
            <a:ext cx="4113702" cy="1188720"/>
          </a:xfrm>
          <a:prstGeom prst="rect">
            <a:avLst/>
          </a:prstGeom>
          <a:solidFill>
            <a:srgbClr val="1B3A5C"/>
          </a:solidFill>
          <a:ln w="381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3809" y="2240280"/>
            <a:ext cx="393082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A227"/>
                </a:solidFill>
              </a:rPr>
              <a:t>330%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3809" y="2926080"/>
            <a:ext cx="393082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最高月（11月）実績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92369" y="3429000"/>
            <a:ext cx="4113702" cy="1005840"/>
          </a:xfrm>
          <a:prstGeom prst="rect">
            <a:avLst/>
          </a:prstGeom>
          <a:solidFill>
            <a:srgbClr val="F0F0F0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83809" y="3520440"/>
            <a:ext cx="393082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3A5C"/>
                </a:solidFill>
              </a:rPr>
              <a:t>神田モデルを池袋に転用
・認証: 2025年6月
・即月233%を達成
・わずか6ヶ月で330%に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92369" y="4526280"/>
            <a:ext cx="411370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3809" y="4572000"/>
            <a:ext cx="393082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</a:rPr>
              <a:t>✓ 再現性が証明された
✓ PPPJの仕組みが機能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再現性こそがPPPJの強み —— モデルの転用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4114800" cy="3840480"/>
          </a:xfrm>
          <a:prstGeom prst="rect">
            <a:avLst/>
          </a:prstGeom>
          <a:solidFill>
            <a:srgbClr val="FFFFFF"/>
          </a:solidFill>
          <a:ln w="381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4114800" cy="5486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神田モデル（原型）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① ハラル認証取得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3A5C"/>
                </a:solidFill>
              </a:rPr>
              <a:t>② 食材をハラル対応に切替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3A5C"/>
                </a:solidFill>
              </a:rPr>
              <a:t>③ インフルエンサー施策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3A5C"/>
                </a:solidFill>
              </a:rPr>
              <a:t>④ SNS・Google MEO強化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3A5C"/>
                </a:solidFill>
              </a:rPr>
              <a:t>⑤ スタッフ教育・英語メニュー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3A5C"/>
                </a:solidFill>
              </a:rPr>
              <a:t>⑥ 継続的なデータ改善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260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227"/>
                </a:solidFill>
              </a:rPr>
              <a:t>→
転用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1463040"/>
            <a:ext cx="4114800" cy="3840480"/>
          </a:xfrm>
          <a:prstGeom prst="rect">
            <a:avLst/>
          </a:prstGeom>
          <a:solidFill>
            <a:srgbClr val="FFFFFF"/>
          </a:solidFill>
          <a:ln w="381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94960" y="1463040"/>
            <a:ext cx="4114800" cy="5486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1554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5C"/>
                </a:solidFill>
              </a:rPr>
              <a:t>池袋転用（6ヶ月後）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148840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6A4F"/>
                </a:solidFill>
              </a:rPr>
              <a:t>→ 翌月: 233%達成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606040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6A4F"/>
                </a:solidFill>
              </a:rPr>
              <a:t>→ 3ヶ月: 185%安定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063240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6A4F"/>
                </a:solidFill>
              </a:rPr>
              <a:t>→ 5ヶ月: 271%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520440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6A4F"/>
                </a:solidFill>
              </a:rPr>
              <a:t>→ 6ヶ月: 330%（最高）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977640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3A5C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434840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</a:rPr>
              <a:t>★ 同じ仕組みで同じ結果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943600"/>
            <a:ext cx="11640312" cy="594360"/>
          </a:xfrm>
          <a:prstGeom prst="rect">
            <a:avLst/>
          </a:prstGeom>
          <a:solidFill>
            <a:srgbClr val="1B3A5C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</a:rPr>
              <a:t>再現性こそがPPPJの強み —— あなたの店でも同じ結果が出せます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【実績③】銀座のステーキ 3店舗展開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C35A"/>
                </a:solidFill>
              </a:rPr>
              <a:t>高単価×体験×ハラルの掛け算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914400"/>
          </a:xfrm>
          <a:prstGeom prst="rect">
            <a:avLst/>
          </a:prstGeom>
          <a:solidFill>
            <a:srgbClr val="C8C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" y="1389888"/>
            <a:ext cx="11969496" cy="694944"/>
          </a:xfrm>
          <a:prstGeom prst="rect">
            <a:avLst/>
          </a:prstGeom>
          <a:noFill/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1508760"/>
            <a:ext cx="11969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📷 店舗・料理写真をここに挿入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3681984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3681984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23160"/>
            <a:ext cx="3681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5C"/>
                </a:solidFill>
              </a:rPr>
              <a:t>恵比寿店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880360"/>
            <a:ext cx="3681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</a:rPr>
              <a:t>2025年10月オープン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349910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</a:rPr>
              <a:t>#1
高級住宅街立地
外国人富裕層が多い
エリア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75232" y="5715000"/>
            <a:ext cx="1463040" cy="457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0952" y="5760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6A4F"/>
                </a:solidFill>
              </a:rPr>
              <a:t>ハラル認証済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4904" y="2286000"/>
            <a:ext cx="3681984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84904" y="2286000"/>
            <a:ext cx="3681984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84904" y="2423160"/>
            <a:ext cx="3681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5C"/>
                </a:solidFill>
              </a:rPr>
              <a:t>新宿店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4904" y="2880360"/>
            <a:ext cx="3681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</a:rPr>
              <a:t>2025年11月オープン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6344" y="3246120"/>
            <a:ext cx="349910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</a:rPr>
              <a:t>#2
最大集客エリア
新宿駅周辺
インバウンド最前線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5715000"/>
            <a:ext cx="1463040" cy="457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0096" y="5760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6A4F"/>
                </a:solidFill>
              </a:rPr>
              <a:t>ハラル認証済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4048" y="2286000"/>
            <a:ext cx="3681984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4048" y="2286000"/>
            <a:ext cx="3681984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4048" y="2423160"/>
            <a:ext cx="3681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5C"/>
                </a:solidFill>
              </a:rPr>
              <a:t>渋谷店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4048" y="2880360"/>
            <a:ext cx="3681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</a:rPr>
              <a:t>2025年11月オープン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5488" y="3246120"/>
            <a:ext cx="349910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</a:rPr>
              <a:t>#3
若年富裕層向け
トレンド発信地
SNS拡散効果大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13520" y="5715000"/>
            <a:ext cx="1463040" cy="457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59240" y="5760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6A4F"/>
                </a:solidFill>
              </a:rPr>
              <a:t>ハラル認証済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943600"/>
            <a:ext cx="11640312" cy="5486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227"/>
                </a:solidFill>
              </a:rPr>
              <a:t>高単価×体験×ハラルの掛け算 —— プレミアムゾーンでの先行展開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【実績④】川品 浅草店 —— 訪日外国人No.1エリアに出店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5957316" cy="2468880"/>
          </a:xfrm>
          <a:prstGeom prst="rect">
            <a:avLst/>
          </a:prstGeom>
          <a:solidFill>
            <a:srgbClr val="C8C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1389888"/>
            <a:ext cx="5737860" cy="2249424"/>
          </a:xfrm>
          <a:prstGeom prst="rect">
            <a:avLst/>
          </a:prstGeom>
          <a:noFill/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2286000"/>
            <a:ext cx="57378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📷 浅草の街並み写真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840480"/>
            <a:ext cx="5957316" cy="2468880"/>
          </a:xfrm>
          <a:prstGeom prst="rect">
            <a:avLst/>
          </a:prstGeom>
          <a:solidFill>
            <a:srgbClr val="C8C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" y="3950208"/>
            <a:ext cx="5737860" cy="2249424"/>
          </a:xfrm>
          <a:prstGeom prst="rect">
            <a:avLst/>
          </a:prstGeom>
          <a:noFill/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" y="4846320"/>
            <a:ext cx="57378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📷 料理写真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371600"/>
            <a:ext cx="5774436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371600"/>
            <a:ext cx="5774436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3076" y="1508760"/>
            <a:ext cx="55915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5C"/>
                </a:solidFill>
              </a:rPr>
              <a:t>川品 浅草店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2029968"/>
            <a:ext cx="55915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オープン: 2026年1月
ジャンル: 和食・鍋・しゃぶしゃぶ
エリア: 東京・浅草（台東区）
PPPJ認証: 2025年12月取得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1636" y="3337560"/>
            <a:ext cx="5774436" cy="914400"/>
          </a:xfrm>
          <a:prstGeom prst="rect">
            <a:avLst/>
          </a:prstGeom>
          <a:solidFill>
            <a:srgbClr val="1B3A5C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3076" y="3429000"/>
            <a:ext cx="55915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訪日外国人来街数
日本最多エリア・浅草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4343400"/>
            <a:ext cx="5774436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3076" y="4434840"/>
            <a:ext cx="55915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3A5C"/>
                </a:solidFill>
              </a:rPr>
              <a:t>年間来街者数: 約3,000万人以上
外国人比率: 約60%（都内最高水準）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5120640"/>
            <a:ext cx="577443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3076" y="5166360"/>
            <a:ext cx="55915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3A5C"/>
                </a:solidFill>
              </a:rPr>
              <a:t>ムスリム旅行者に最も認知された
観光地の一つ ——「浅草 ハラル」検索急増中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実績サマリー —— ROI 比較表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C35A"/>
                </a:solidFill>
              </a:rPr>
              <a:t>動かないことが、最大のリスク。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286000" cy="445770"/>
          </a:xfrm>
          <a:prstGeom prst="rect">
            <a:avLst/>
          </a:prstGeom>
          <a:solidFill>
            <a:srgbClr val="1B3A5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219456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店舗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280160"/>
            <a:ext cx="1645920" cy="445770"/>
          </a:xfrm>
          <a:prstGeom prst="rect">
            <a:avLst/>
          </a:prstGeom>
          <a:solidFill>
            <a:srgbClr val="1B3A5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389888"/>
            <a:ext cx="15544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対応前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1645920" cy="445770"/>
          </a:xfrm>
          <a:prstGeom prst="rect">
            <a:avLst/>
          </a:prstGeom>
          <a:solidFill>
            <a:srgbClr val="1B3A5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389888"/>
            <a:ext cx="155448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最大実績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286000" cy="445770"/>
          </a:xfrm>
          <a:prstGeom prst="rect">
            <a:avLst/>
          </a:prstGeom>
          <a:solidFill>
            <a:srgbClr val="1B3A5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389888"/>
            <a:ext cx="219456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ポイント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725930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83565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3A5C"/>
                </a:solidFill>
              </a:rPr>
              <a:t>将泰庵 神田店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725930"/>
            <a:ext cx="1645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183565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3A5C"/>
                </a:solidFill>
              </a:rPr>
              <a:t>基準:100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725930"/>
            <a:ext cx="1645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83565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227"/>
                </a:solidFill>
              </a:rPr>
              <a:t>178%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725930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183565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3A5C"/>
                </a:solidFill>
              </a:rPr>
              <a:t>インフルエンサー
×認証で急拡大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411730"/>
            <a:ext cx="2286000" cy="68580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52145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3A5C"/>
                </a:solidFill>
              </a:rPr>
              <a:t>将泰庵 池袋店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2411730"/>
            <a:ext cx="1645920" cy="68580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7480" y="252145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3A5C"/>
                </a:solidFill>
              </a:rPr>
              <a:t>基準:100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411730"/>
            <a:ext cx="1645920" cy="68580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252145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227"/>
                </a:solidFill>
              </a:rPr>
              <a:t>330%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411730"/>
            <a:ext cx="2286000" cy="68580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252145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3A5C"/>
                </a:solidFill>
              </a:rPr>
              <a:t>神田モデル転用
再現性を証明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097530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20725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3A5C"/>
                </a:solidFill>
              </a:rPr>
              <a:t>銀座のステーキ
恵比寿・新宿・渋谷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3097530"/>
            <a:ext cx="1645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97480" y="320725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3A5C"/>
                </a:solidFill>
              </a:rPr>
              <a:t>新規出店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3097530"/>
            <a:ext cx="1645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320725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</a:rPr>
              <a:t>展開中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097530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320725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3A5C"/>
                </a:solidFill>
              </a:rPr>
              <a:t>高単価プレミアム
戦略で先行獲得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783330"/>
            <a:ext cx="2286000" cy="68580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89305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3A5C"/>
                </a:solidFill>
              </a:rPr>
              <a:t>川品 浅草店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3783330"/>
            <a:ext cx="1645920" cy="68580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97480" y="389305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3A5C"/>
                </a:solidFill>
              </a:rPr>
              <a:t>2026.01開始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3783330"/>
            <a:ext cx="1645920" cy="68580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43400" y="3893058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</a:rPr>
              <a:t>拡大中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3783330"/>
            <a:ext cx="2286000" cy="68580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89320" y="389305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3A5C"/>
                </a:solidFill>
              </a:rPr>
              <a:t>浅草No.1立地
最多インバウンド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1280160"/>
            <a:ext cx="3502152" cy="5120640"/>
          </a:xfrm>
          <a:prstGeom prst="rect">
            <a:avLst/>
          </a:prstGeom>
          <a:solidFill>
            <a:srgbClr val="1B3A5C"/>
          </a:solidFill>
          <a:ln w="381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0" y="2011680"/>
            <a:ext cx="31363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動かないことが、
最大のリスク。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4297680"/>
            <a:ext cx="31363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A227"/>
                </a:solidFill>
              </a:rPr>
              <a:t>競合が先に動いた瞬間
あなたの市場は失われる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PPPJとは —— 私たちについて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7287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</a:rPr>
              <a:t>プレミアム・プロ・ピープル・ジャパン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57287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Premium Pro People Japan Co., Ltd.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2291486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5728716" cy="530352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設立: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23160"/>
            <a:ext cx="44485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2011年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98648"/>
            <a:ext cx="5728716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900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従業員: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90088"/>
            <a:ext cx="44485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約400名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65576"/>
            <a:ext cx="5728716" cy="530352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570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拠点: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557016"/>
            <a:ext cx="44485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日本・タイの2拠点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32504"/>
            <a:ext cx="5728716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2394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事業: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123944"/>
            <a:ext cx="44485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和牛総合商社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599432"/>
            <a:ext cx="5728716" cy="530352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908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認証実績: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690872"/>
            <a:ext cx="44485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飲食店ハラル対応支援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349240"/>
            <a:ext cx="73152" cy="10972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394960"/>
            <a:ext cx="563727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B3A5C"/>
                </a:solidFill>
              </a:rPr>
              <a:t>「ムスリムの方々に安心して日本の美食を
楽しんでいただける環境をつくること。
それがPPPJの使命です。」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6" y="1280160"/>
            <a:ext cx="5911596" cy="5120640"/>
          </a:xfrm>
          <a:prstGeom prst="rect">
            <a:avLst/>
          </a:prstGeom>
          <a:solidFill>
            <a:srgbClr val="C8C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1389888"/>
            <a:ext cx="5692140" cy="4901184"/>
          </a:xfrm>
          <a:prstGeom prst="rect">
            <a:avLst/>
          </a:prstGeom>
          <a:noFill/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4204" y="3611880"/>
            <a:ext cx="56921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📷 写真をここに挿入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PPPJが選ばれる理由 —— 一般認証会社との違い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029200" cy="566928"/>
          </a:xfrm>
          <a:prstGeom prst="rect">
            <a:avLst/>
          </a:prstGeom>
          <a:solidFill>
            <a:srgbClr val="1B3A5C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94960" y="1280160"/>
            <a:ext cx="1828800" cy="566928"/>
          </a:xfrm>
          <a:prstGeom prst="rect">
            <a:avLst/>
          </a:prstGeom>
          <a:solidFill>
            <a:srgbClr val="1B3A5C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760" y="1280160"/>
            <a:ext cx="4599432" cy="566928"/>
          </a:xfrm>
          <a:prstGeom prst="rect">
            <a:avLst/>
          </a:prstGeom>
          <a:solidFill>
            <a:srgbClr val="1B3A5C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4846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サービス項目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389888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</a:rPr>
              <a:t>PPPJ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389888"/>
            <a:ext cx="459943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一般認証会社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47088"/>
            <a:ext cx="5029200" cy="566928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94960" y="1847088"/>
            <a:ext cx="1828800" cy="566928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23760" y="1847088"/>
            <a:ext cx="4599432" cy="566928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56816"/>
            <a:ext cx="4846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3A5C"/>
                </a:solidFill>
              </a:rPr>
              <a:t>ハラル認証取得サポート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956816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6A4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956816"/>
            <a:ext cx="459943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74C3C"/>
                </a:solidFill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14016"/>
            <a:ext cx="5029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94960" y="2414016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3760" y="2414016"/>
            <a:ext cx="4599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523744"/>
            <a:ext cx="4846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3A5C"/>
                </a:solidFill>
              </a:rPr>
              <a:t>ハラル食材の安定供給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523744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6A4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523744"/>
            <a:ext cx="459943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74C3C"/>
                </a:solidFill>
              </a:rPr>
              <a:t>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80944"/>
            <a:ext cx="5029200" cy="566928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94960" y="2980944"/>
            <a:ext cx="1828800" cy="566928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60" y="2980944"/>
            <a:ext cx="4599432" cy="566928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090672"/>
            <a:ext cx="4846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3A5C"/>
                </a:solidFill>
              </a:rPr>
              <a:t>メニュー開発・レシピ提案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090672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6A4F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090672"/>
            <a:ext cx="459943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74C3C"/>
                </a:solidFill>
              </a:rPr>
              <a:t>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547872"/>
            <a:ext cx="5029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94960" y="3547872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23760" y="3547872"/>
            <a:ext cx="4599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657600"/>
            <a:ext cx="4846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3A5C"/>
                </a:solidFill>
              </a:rPr>
              <a:t>SNS・インフルエンサー集客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3657600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6A4F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657600"/>
            <a:ext cx="459943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74C3C"/>
                </a:solidFill>
              </a:rPr>
              <a:t>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114800"/>
            <a:ext cx="5029200" cy="566928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94960" y="4114800"/>
            <a:ext cx="1828800" cy="566928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23760" y="4114800"/>
            <a:ext cx="4599432" cy="566928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24528"/>
            <a:ext cx="4846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3A5C"/>
                </a:solidFill>
              </a:rPr>
              <a:t>Google / MEO対策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4224528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6A4F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4224528"/>
            <a:ext cx="459943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74C3C"/>
                </a:solidFill>
              </a:rPr>
              <a:t>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681728"/>
            <a:ext cx="5029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94960" y="4681728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223760" y="4681728"/>
            <a:ext cx="45994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791456"/>
            <a:ext cx="4846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3A5C"/>
                </a:solidFill>
              </a:rPr>
              <a:t>スタッフ向けハラル教育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4791456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6A4F"/>
                </a:solidFill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791456"/>
            <a:ext cx="459943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74C3C"/>
                </a:solidFill>
              </a:rPr>
              <a:t>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248656"/>
            <a:ext cx="5029200" cy="566928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94960" y="5248656"/>
            <a:ext cx="1828800" cy="566928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23760" y="5248656"/>
            <a:ext cx="4599432" cy="566928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358384"/>
            <a:ext cx="4846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3A5C"/>
                </a:solidFill>
              </a:rPr>
              <a:t>継続的な改善サポート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5358384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6A4F"/>
                </a:solidFill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5358384"/>
            <a:ext cx="459943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74C3C"/>
                </a:solidFill>
              </a:rPr>
              <a:t>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PPPJの6大サービス —— ワンストップで完全サポート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076" y="3246120"/>
            <a:ext cx="1828800" cy="1371600"/>
          </a:xfrm>
          <a:prstGeom prst="rect">
            <a:avLst/>
          </a:prstGeom>
          <a:solidFill>
            <a:srgbClr val="1B3A5C"/>
          </a:solidFill>
          <a:ln w="381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0076" y="32461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227"/>
                </a:solidFill>
              </a:rPr>
              <a:t>PPPJ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0076" y="39776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ワンストップ
支援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25603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2560320" cy="91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745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①認証取得支援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40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ハラル認証を
確実に取得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25603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2560320" cy="91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461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</a:rPr>
              <a:t>②食材供給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611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天幸牛などの
ハラル食材調達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520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480560"/>
            <a:ext cx="25603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480560"/>
            <a:ext cx="2560320" cy="91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6177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③メニュー開発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983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ハラルに対応した
レシピ・メニュー提案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892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45752" y="1737360"/>
            <a:ext cx="25603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45752" y="1737360"/>
            <a:ext cx="2560320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37192" y="18745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</a:rPr>
              <a:t>④SNS集客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37192" y="2240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インフルエンサー
×SNS拡散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4272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45752" y="3108960"/>
            <a:ext cx="25603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45752" y="3108960"/>
            <a:ext cx="2560320" cy="91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37192" y="32461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</a:rPr>
              <a:t>⑤Google/MEO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37192" y="3611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外国語検索での
露出最大化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34272" y="3520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4480560"/>
            <a:ext cx="25603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45752" y="4480560"/>
            <a:ext cx="2560320" cy="91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37192" y="46177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⑥スタッフ教育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4983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現場スタッフへの
ハラル研修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34272" y="4892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天幸牛 —— PPPJが誇るハラル対応和牛ブランド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6003036" cy="5120640"/>
          </a:xfrm>
          <a:prstGeom prst="rect">
            <a:avLst/>
          </a:prstGeom>
          <a:solidFill>
            <a:srgbClr val="C8C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1389888"/>
            <a:ext cx="5783580" cy="4901184"/>
          </a:xfrm>
          <a:prstGeom prst="rect">
            <a:avLst/>
          </a:prstGeom>
          <a:noFill/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3611880"/>
            <a:ext cx="57835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📷 写真をここに挿入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5916" y="1463040"/>
            <a:ext cx="58201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B3A5C"/>
                </a:solidFill>
              </a:rPr>
              <a:t>天幸牛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2331720"/>
            <a:ext cx="58201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C9A227"/>
                </a:solidFill>
              </a:rPr>
              <a:t>TENKO BEEF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7931" y="2743200"/>
            <a:ext cx="4656124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5916" y="2880360"/>
            <a:ext cx="2818638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7356" y="2971800"/>
            <a:ext cx="26357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</a:rPr>
              <a:t>産地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7356" y="3337560"/>
            <a:ext cx="263575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3A5C"/>
                </a:solidFill>
              </a:rPr>
              <a:t>国産黒毛和牛
厳選提携牧場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5994" y="2880360"/>
            <a:ext cx="2818638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7434" y="2971800"/>
            <a:ext cx="26357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</a:rPr>
              <a:t>等級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7434" y="3337560"/>
            <a:ext cx="263575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3A5C"/>
                </a:solidFill>
              </a:rPr>
              <a:t>A4〜A5等級
プレミアムグレード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5916" y="4069080"/>
            <a:ext cx="2818638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7356" y="4160520"/>
            <a:ext cx="26357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</a:rPr>
              <a:t>ハラル対応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7356" y="4526280"/>
            <a:ext cx="263575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3A5C"/>
                </a:solidFill>
              </a:rPr>
              <a:t>PPPJ認証処理場
完全ハラル対応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5994" y="4069080"/>
            <a:ext cx="2818638" cy="1097280"/>
          </a:xfrm>
          <a:prstGeom prst="rect">
            <a:avLst/>
          </a:prstGeom>
          <a:solidFill>
            <a:srgbClr val="F0F0F0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7434" y="4160520"/>
            <a:ext cx="26357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</a:rPr>
              <a:t>品質管理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7434" y="4526280"/>
            <a:ext cx="263575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3A5C"/>
                </a:solidFill>
              </a:rPr>
              <a:t>独自検査基準
トレーサビリティ完備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天幸牛 サプライチェーン —— 産地から食卓まで完全管理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219090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783080"/>
            <a:ext cx="219090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</a:rP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40280"/>
            <a:ext cx="2190902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331720"/>
            <a:ext cx="209946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</a:rPr>
              <a:t>提携牧場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971800"/>
            <a:ext cx="209946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国産黒毛和牛
厳選された
提携農家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3510" y="315468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2382" y="1737360"/>
            <a:ext cx="2190902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2382" y="1783080"/>
            <a:ext cx="219090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</a:rPr>
              <a:t>STEP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2382" y="2240280"/>
            <a:ext cx="2190902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8102" y="2331720"/>
            <a:ext cx="209946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6A4F"/>
                </a:solidFill>
              </a:rPr>
              <a:t>ハラル認証
処理場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8102" y="2971800"/>
            <a:ext cx="209946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PPPJ提携の
認証処理場で
完全対応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1572" y="315468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0444" y="1737360"/>
            <a:ext cx="219090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0444" y="1783080"/>
            <a:ext cx="219090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</a:rPr>
              <a:t>STEP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0444" y="2240280"/>
            <a:ext cx="2190902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76164" y="2331720"/>
            <a:ext cx="209946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</a:rPr>
              <a:t>品質検査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6164" y="2971800"/>
            <a:ext cx="209946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独自基準による
品質・安全性
確認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9635" y="315468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58507" y="1737360"/>
            <a:ext cx="2190902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58507" y="1783080"/>
            <a:ext cx="219090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</a:rPr>
              <a:t>STEP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58507" y="2240280"/>
            <a:ext cx="2190902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04227" y="2331720"/>
            <a:ext cx="209946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6A4F"/>
                </a:solidFill>
              </a:rPr>
              <a:t>PPPJ物流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04227" y="2971800"/>
            <a:ext cx="209946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コールドチェーン
管理での
安全配送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7697" y="315468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86569" y="1737360"/>
            <a:ext cx="2190902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86569" y="1783080"/>
            <a:ext cx="219090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</a:rPr>
              <a:t>STEP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86569" y="2240280"/>
            <a:ext cx="2190902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32289" y="2331720"/>
            <a:ext cx="209946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</a:rPr>
              <a:t>店舗提供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2289" y="2971800"/>
            <a:ext cx="209946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認証店舗で
提供・お客様
へ届く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035040"/>
            <a:ext cx="11640312" cy="548640"/>
          </a:xfrm>
          <a:prstGeom prst="rect">
            <a:avLst/>
          </a:prstGeom>
          <a:solidFill>
            <a:srgbClr val="F0F0F0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</a:rPr>
              <a:t>全工程でのトレーサビリティにより、ムスリムのお客様に「安心」を届けます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導入ステップ —— 5ステップで完全サポート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2218334" cy="594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21833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</a:rP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57400"/>
            <a:ext cx="2218334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148840"/>
            <a:ext cx="212689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無料ヒアリング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743200"/>
            <a:ext cx="212689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現在の状況と
ご要望を確認
（約60分）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6153" y="4663440"/>
            <a:ext cx="1774667" cy="457200"/>
          </a:xfrm>
          <a:prstGeom prst="rect">
            <a:avLst/>
          </a:prstGeom>
          <a:solidFill>
            <a:srgbClr val="F0F0F0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153" y="4709160"/>
            <a:ext cx="17746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5C"/>
                </a:solidFill>
              </a:rPr>
              <a:t>〜1週間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1798" y="3200400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2382" y="1463040"/>
            <a:ext cx="2218334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2382" y="1554480"/>
            <a:ext cx="221833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</a:rPr>
              <a:t>STEP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2382" y="2057400"/>
            <a:ext cx="2218334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48102" y="2148840"/>
            <a:ext cx="212689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4F"/>
                </a:solidFill>
              </a:rPr>
              <a:t>全体設計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8102" y="2743200"/>
            <a:ext cx="212689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最適な認証・集客
プランを策定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24215" y="4663440"/>
            <a:ext cx="1774667" cy="457200"/>
          </a:xfrm>
          <a:prstGeom prst="rect">
            <a:avLst/>
          </a:prstGeom>
          <a:solidFill>
            <a:srgbClr val="F0F0F0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24215" y="4709160"/>
            <a:ext cx="17746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6A4F"/>
                </a:solidFill>
              </a:rPr>
              <a:t>〜2週間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9860" y="3200400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0444" y="1463040"/>
            <a:ext cx="2218334" cy="594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0444" y="1554480"/>
            <a:ext cx="221833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</a:rPr>
              <a:t>STEP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0444" y="2057400"/>
            <a:ext cx="2218334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76164" y="2148840"/>
            <a:ext cx="212689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認証取得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6164" y="2743200"/>
            <a:ext cx="212689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書類準備から
認証完了まで
サポート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52278" y="4663440"/>
            <a:ext cx="1774667" cy="457200"/>
          </a:xfrm>
          <a:prstGeom prst="rect">
            <a:avLst/>
          </a:prstGeom>
          <a:solidFill>
            <a:srgbClr val="F0F0F0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2278" y="4709160"/>
            <a:ext cx="17746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5C"/>
                </a:solidFill>
              </a:rPr>
              <a:t>1〜3ヶ月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7923" y="3200400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58507" y="1463040"/>
            <a:ext cx="2218334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58507" y="1554480"/>
            <a:ext cx="221833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</a:rPr>
              <a:t>STEP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58507" y="2057400"/>
            <a:ext cx="2218334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04227" y="2148840"/>
            <a:ext cx="212689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4F"/>
                </a:solidFill>
              </a:rPr>
              <a:t>集客展開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04227" y="2743200"/>
            <a:ext cx="212689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SNS・MEO・
インフルエンサー
施策開始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80340" y="4663440"/>
            <a:ext cx="1774667" cy="457200"/>
          </a:xfrm>
          <a:prstGeom prst="rect">
            <a:avLst/>
          </a:prstGeom>
          <a:solidFill>
            <a:srgbClr val="F0F0F0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80340" y="4709160"/>
            <a:ext cx="17746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6A4F"/>
                </a:solidFill>
              </a:rPr>
              <a:t>翌月から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5985" y="3200400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86569" y="1463040"/>
            <a:ext cx="2218334" cy="594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86569" y="1554480"/>
            <a:ext cx="221833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</a:rPr>
              <a:t>STEP 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86569" y="2057400"/>
            <a:ext cx="2218334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32289" y="2148840"/>
            <a:ext cx="212689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継続改善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2289" y="2743200"/>
            <a:ext cx="212689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月次データ分析
&amp;改善提案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08403" y="4663440"/>
            <a:ext cx="1774667" cy="457200"/>
          </a:xfrm>
          <a:prstGeom prst="rect">
            <a:avLst/>
          </a:prstGeom>
          <a:solidFill>
            <a:srgbClr val="F0F0F0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08403" y="4709160"/>
            <a:ext cx="17746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5C"/>
                </a:solidFill>
              </a:rPr>
              <a:t>継続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035040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</a:rPr>
              <a:t>まずは無料ヒアリングから —— お気軽にご連絡ください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導入前 vs 導入後 —— あなたの店はどう変わるか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645920" cy="448056"/>
          </a:xfrm>
          <a:prstGeom prst="rect">
            <a:avLst/>
          </a:prstGeom>
          <a:solidFill>
            <a:srgbClr val="55555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20240" y="1280160"/>
            <a:ext cx="1645920" cy="448056"/>
          </a:xfrm>
          <a:prstGeom prst="rect">
            <a:avLst/>
          </a:prstGeom>
          <a:solidFill>
            <a:srgbClr val="E74C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280160"/>
            <a:ext cx="2436876" cy="448056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5331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35331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導入前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353312"/>
            <a:ext cx="24368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導入後（PPPJ）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28216"/>
            <a:ext cx="164592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20240" y="1728216"/>
            <a:ext cx="164592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728216"/>
            <a:ext cx="2436876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81965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5C"/>
                </a:solidFill>
              </a:rPr>
              <a:t>外国人客数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181965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ほぼゼロ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1819656"/>
            <a:ext cx="23454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6A4F"/>
                </a:solidFill>
              </a:rPr>
              <a:t>月100〜330%増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368296"/>
            <a:ext cx="1645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2368296"/>
            <a:ext cx="1645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6160" y="2368296"/>
            <a:ext cx="2436876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45973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5C"/>
                </a:solidFill>
              </a:rPr>
              <a:t>ムスリム対応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245973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不可（誤食リスク）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459736"/>
            <a:ext cx="23454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6A4F"/>
                </a:solidFill>
              </a:rPr>
              <a:t>完全対応・安心提供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008376"/>
            <a:ext cx="164592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20240" y="3008376"/>
            <a:ext cx="164592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66160" y="3008376"/>
            <a:ext cx="2436876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09981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5C"/>
                </a:solidFill>
              </a:rPr>
              <a:t>SNS・検索露出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309981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日本語のみ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3099816"/>
            <a:ext cx="23454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6A4F"/>
                </a:solidFill>
              </a:rPr>
              <a:t>多言語・世界発信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648456"/>
            <a:ext cx="1645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20240" y="3648456"/>
            <a:ext cx="1645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66160" y="3648456"/>
            <a:ext cx="2436876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73989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5C"/>
                </a:solidFill>
              </a:rPr>
              <a:t>スタッフ対応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373989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説明できない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3739896"/>
            <a:ext cx="23454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6A4F"/>
                </a:solidFill>
              </a:rPr>
              <a:t>研修済・自信を持って対応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85916" y="1280160"/>
            <a:ext cx="5820156" cy="5120640"/>
          </a:xfrm>
          <a:prstGeom prst="rect">
            <a:avLst/>
          </a:prstGeom>
          <a:solidFill>
            <a:srgbClr val="C8C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5644" y="1389888"/>
            <a:ext cx="5600700" cy="4901184"/>
          </a:xfrm>
          <a:prstGeom prst="rect">
            <a:avLst/>
          </a:prstGeom>
          <a:noFill/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5644" y="3611880"/>
            <a:ext cx="56007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📷 写真をここに挿入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620"/>
            <a:ext cx="12188952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最後に —— 私たちが伝えたいこと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6003036" cy="5212080"/>
          </a:xfrm>
          <a:prstGeom prst="rect">
            <a:avLst/>
          </a:prstGeom>
          <a:solidFill>
            <a:srgbClr val="C8C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1389888"/>
            <a:ext cx="5783580" cy="4992624"/>
          </a:xfrm>
          <a:prstGeom prst="rect">
            <a:avLst/>
          </a:prstGeom>
          <a:noFill/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3657600"/>
            <a:ext cx="57835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📷 写真をここに挿入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0196" y="1280160"/>
            <a:ext cx="73152" cy="14630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1463040"/>
            <a:ext cx="57287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1B3A5C"/>
                </a:solidFill>
              </a:rPr>
              <a:t>"誰に、どう安心を届けるか"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2743200"/>
            <a:ext cx="2910078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2926080"/>
            <a:ext cx="58201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5C"/>
                </a:solidFill>
              </a:rPr>
              <a:t>それがすべてのビジネスの本質です。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5916" y="3474720"/>
            <a:ext cx="502920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5916" y="36118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5C"/>
                </a:solidFill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4556" y="352044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</a:rPr>
              <a:t>先行者独占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4556" y="3858768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今動けば、エリアで唯一の
ハラル対応店になれる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4389120"/>
            <a:ext cx="502920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45262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5C"/>
                </a:solidFill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4556" y="443484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</a:rPr>
              <a:t>実績証明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4556" y="4773168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神田330%など
数字が証明している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5916" y="5303520"/>
            <a:ext cx="502920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5916" y="54406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5C"/>
                </a:solidFill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4556" y="5349240"/>
            <a:ext cx="52257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</a:rPr>
              <a:t>市場拡大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4556" y="5687568"/>
            <a:ext cx="52257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22億人のムスリム市場は
これからが本番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5916" y="5852160"/>
            <a:ext cx="5820156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7356" y="5897880"/>
            <a:ext cx="56372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</a:rPr>
              <a:t>PPPJと共に、世界に開かれた飲食店へ。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56372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A5C"/>
                </a:solidFill>
              </a:rPr>
              <a:t>まずは、話してみてください。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545836" cy="381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6372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✓  ハラル認証の取り方がわからない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56372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✓  どんな食材に切り替えればいいか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56372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✓  外国人集客を始めたいがどこから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66160"/>
            <a:ext cx="56372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</a:rPr>
              <a:t>✓  他店の成功事例を聞きたい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297680"/>
            <a:ext cx="5180076" cy="822960"/>
          </a:xfrm>
          <a:prstGeom prst="rect">
            <a:avLst/>
          </a:prstGeom>
          <a:solidFill>
            <a:srgbClr val="1B3A5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51800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227"/>
                </a:solidFill>
              </a:rPr>
              <a:t>初回相談  無料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303520"/>
            <a:ext cx="56372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B3A5C"/>
                </a:solidFill>
              </a:rPr>
              <a:t>お気軽にスタッフまでお申し付けください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7356" y="365760"/>
            <a:ext cx="57287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3A5C"/>
                </a:solidFill>
              </a:rPr>
              <a:t>PPPJ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7356" y="914400"/>
            <a:ext cx="57287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プレミアム・プロ・ピープル・ジャパン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0227" y="1325880"/>
            <a:ext cx="4582972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7356" y="1508760"/>
            <a:ext cx="5728716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4516" y="1645920"/>
            <a:ext cx="54543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5C"/>
                </a:solidFill>
              </a:rPr>
              <a:t>📞  047-481-8555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7356" y="2286000"/>
            <a:ext cx="5728716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4516" y="2423160"/>
            <a:ext cx="54543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5C"/>
                </a:solidFill>
              </a:rPr>
              <a:t>✉  office@pppj.co.jp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7314" y="3108960"/>
            <a:ext cx="1828800" cy="1828800"/>
          </a:xfrm>
          <a:prstGeom prst="rect">
            <a:avLst/>
          </a:prstGeom>
          <a:solidFill>
            <a:srgbClr val="C8C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37042" y="3218688"/>
            <a:ext cx="1609344" cy="1609344"/>
          </a:xfrm>
          <a:prstGeom prst="rect">
            <a:avLst/>
          </a:prstGeom>
          <a:noFill/>
          <a:ln w="19050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7042" y="3794760"/>
            <a:ext cx="16093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📷 QRコード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77356" y="5120640"/>
            <a:ext cx="5728716" cy="685800"/>
          </a:xfrm>
          <a:prstGeom prst="rect">
            <a:avLst/>
          </a:prstGeom>
          <a:solidFill>
            <a:srgbClr val="1B3A5C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8796" y="5257800"/>
            <a:ext cx="55458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227"/>
                </a:solidFill>
              </a:rPr>
              <a:t>今日の参加者限定：個別相談 優先枠あり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31752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