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0"/>
            <a:ext cx="0" cy="685800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9628632" y="0"/>
            <a:ext cx="2560320" cy="6858000"/>
          </a:xfrm>
          <a:prstGeom prst="rect">
            <a:avLst/>
          </a:prstGeom>
          <a:solidFill>
            <a:srgbClr val="0A1F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1512" y="274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C9A227"/>
                </a:solidFill>
                <a:latin typeface="Hiragino Sans"/>
              </a:rPr>
              <a:t>PEOPLE POWER POTENTIAL JAPAN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3032" y="50292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3200" b="1">
                <a:solidFill>
                  <a:srgbClr val="F5F5F0"/>
                </a:solidFill>
                <a:latin typeface="Hiragino Sans"/>
              </a:rPr>
              <a:t>PPPJ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Hiragino Sans"/>
              </a:rPr>
              <a:t>HALAL × INBOUND SEMINAR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7772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0"/>
                </a:solidFill>
                <a:latin typeface="Hiragino Sans"/>
              </a:rPr>
              <a:t>"選ばれる飲食店"は、</a:t>
            </a:r>
          </a:p>
          <a:p>
            <a:pPr algn="l"/>
            <a:r>
              <a:rPr sz="4800" b="1">
                <a:solidFill>
                  <a:srgbClr val="F5F5F0"/>
                </a:solidFill>
                <a:latin typeface="Hiragino Sans"/>
              </a:rPr>
              <a:t>なぜ世界基準に</a:t>
            </a:r>
          </a:p>
          <a:p>
            <a:pPr algn="l"/>
            <a:r>
              <a:rPr sz="4800" b="1">
                <a:solidFill>
                  <a:srgbClr val="C9A227"/>
                </a:solidFill>
                <a:latin typeface="Hiragino Sans"/>
              </a:rPr>
              <a:t>変わり始めているのか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931920"/>
            <a:ext cx="2743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  <a:latin typeface="Hiragino Sans"/>
              </a:rPr>
              <a:t>"美味しい"だけでは、選ばれなくなる時代へ。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5120640"/>
            <a:ext cx="219456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5212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Hiragino Sans"/>
              </a:rPr>
              <a:t>3,687万人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2024年 訪日外国人数
（過去最大）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5120640"/>
            <a:ext cx="219456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657600" y="5212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Hiragino Sans"/>
              </a:rPr>
              <a:t>20億人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世界ムスリム人口
2030年：22億人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0" y="5120640"/>
            <a:ext cx="219456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0" y="5212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9A227"/>
                </a:solidFill>
                <a:latin typeface="Hiragino Sans"/>
              </a:rPr>
              <a:t>1%以下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6692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日本のハラル
対応店舗割合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640080"/>
            <a:ext cx="1188720" cy="274320"/>
          </a:xfrm>
          <a:prstGeom prst="rect">
            <a:avLst/>
          </a:prstGeom>
          <a:noFill/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143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9A227"/>
                </a:solidFill>
                <a:latin typeface="Hiragino San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5F5F0"/>
                </a:solidFill>
                <a:latin typeface="Hiragino Sans"/>
              </a:rPr>
              <a:t>"食べたいのに、</a:t>
            </a:r>
          </a:p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食べられない"</a:t>
            </a:r>
          </a:p>
          <a:p>
            <a:pPr algn="l"/>
            <a:r>
              <a:rPr sz="2800" b="1">
                <a:solidFill>
                  <a:srgbClr val="F5F5F0"/>
                </a:solidFill>
                <a:latin typeface="Hiragino Sans"/>
              </a:rPr>
              <a:t>外国人観光客が</a:t>
            </a:r>
          </a:p>
          <a:p>
            <a:pPr algn="l"/>
            <a:r>
              <a:rPr sz="2800" b="1">
                <a:solidFill>
                  <a:srgbClr val="F5F5F0"/>
                </a:solidFill>
                <a:latin typeface="Hiragino Sans"/>
              </a:rPr>
              <a:t>増えています。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日本食への期待は世界最高水準。
しかし、その期待に応えられていない現実があります。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640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Hiragino Sans"/>
              </a:rPr>
              <a:t>KEY DATA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005840"/>
            <a:ext cx="82296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0" y="1280160"/>
            <a:ext cx="3108960" cy="2103120"/>
          </a:xfrm>
          <a:prstGeom prst="rect">
            <a:avLst/>
          </a:prstGeom>
          <a:solidFill>
            <a:srgbClr val="181818"/>
          </a:solidFill>
          <a:ln w="12700">
            <a:solidFill>
              <a:srgbClr val="403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78%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94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訪日外国人のうち「日本食を楽しむこと」を
旅行目的に挙げた割合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3108960" cy="2103120"/>
          </a:xfrm>
          <a:prstGeom prst="rect">
            <a:avLst/>
          </a:prstGeom>
          <a:solidFill>
            <a:srgbClr val="1A1605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ムスリム訪日客が「食事の制約」を
最大の課題と回答した割合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749040"/>
            <a:ext cx="3108960" cy="2103120"/>
          </a:xfrm>
          <a:prstGeom prst="rect">
            <a:avLst/>
          </a:prstGeom>
          <a:solidFill>
            <a:srgbClr val="181818"/>
          </a:solidFill>
          <a:ln w="12700">
            <a:solidFill>
              <a:srgbClr val="403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3886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150万人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634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年間訪日ムスリム観光客数（推計）
2004年比：約7倍に増加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49040"/>
            <a:ext cx="3108960" cy="2103120"/>
          </a:xfrm>
          <a:prstGeom prst="rect">
            <a:avLst/>
          </a:prstGeom>
          <a:solidFill>
            <a:srgbClr val="181818"/>
          </a:solidFill>
          <a:ln w="12700">
            <a:solidFill>
              <a:srgbClr val="403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886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22億人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6634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2030年の世界ムスリム人口予測
（世界人口の4人に1人）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Hiragino Sans"/>
              </a:rPr>
              <a:t>MARKET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F5F0"/>
                </a:solidFill>
                <a:latin typeface="Hiragino Sans"/>
              </a:rPr>
              <a:t>飲食店の競争相手は、</a:t>
            </a:r>
          </a:p>
          <a:p>
            <a:pPr algn="ctr"/>
            <a:r>
              <a:rPr sz="3600" b="1">
                <a:solidFill>
                  <a:srgbClr val="C9A227"/>
                </a:solidFill>
                <a:latin typeface="Hiragino Sans"/>
              </a:rPr>
              <a:t>"隣の店"ではなくなっています。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Hiragino Sans"/>
              </a:rPr>
              <a:t>選ばれる理由が、「美味しさ」から「安心感」へとシフトしています。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560320"/>
            <a:ext cx="2103120" cy="2560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Hiragino Sans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0"/>
                </a:solidFill>
                <a:latin typeface="Hiragino Sans"/>
              </a:rPr>
              <a:t>Googleで選ばれる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Hiragino Sans"/>
              </a:rPr>
              <a:t>来日前に検索。対応店だけが候補になる。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560320"/>
            <a:ext cx="2103120" cy="2560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Hiragino Sans"/>
              </a:rPr>
              <a:t>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0"/>
                </a:solidFill>
                <a:latin typeface="Hiragino Sans"/>
              </a:rPr>
              <a:t>SNSで探される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7490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Hiragino Sans"/>
              </a:rPr>
              <a:t>口コミが世界に広がる。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560320"/>
            <a:ext cx="2103120" cy="2560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Hiragino Sans"/>
              </a:rPr>
              <a:t>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0"/>
                </a:solidFill>
                <a:latin typeface="Hiragino Sans"/>
              </a:rPr>
              <a:t>安心感で比較される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37490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Hiragino Sans"/>
              </a:rPr>
              <a:t>「ここなら安心」が決め手になる。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2560320"/>
            <a:ext cx="2103120" cy="2560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Hiragino Sans"/>
              </a:rPr>
              <a:t>🗺️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0"/>
                </a:solidFill>
                <a:latin typeface="Hiragino Sans"/>
              </a:rPr>
              <a:t>ガイドブックに載る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7490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Hiragino Sans"/>
              </a:rPr>
              <a:t>海外ガイドアプリ掲載が新客を呼ぶ。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92640" y="2560320"/>
            <a:ext cx="2103120" cy="2560320"/>
          </a:xfrm>
          <a:prstGeom prst="rect">
            <a:avLst/>
          </a:prstGeom>
          <a:solidFill>
            <a:srgbClr val="181818"/>
          </a:solidFill>
          <a:ln w="12700">
            <a:solidFill>
              <a:srgbClr val="30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2743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5F5F0"/>
                </a:solidFill>
                <a:latin typeface="Hiragino Sans"/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291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F5F0"/>
                </a:solidFill>
                <a:latin typeface="Hiragino Sans"/>
              </a:rPr>
              <a:t>翻訳対応で差がつく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37490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Hiragino Sans"/>
              </a:rPr>
              <a:t>多言語メニューが選ばれ方を変える。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5760720"/>
            <a:ext cx="7589520" cy="640080"/>
          </a:xfrm>
          <a:prstGeom prst="rect">
            <a:avLst/>
          </a:prstGeom>
          <a:noFill/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0" y="57607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Hiragino Sans"/>
              </a:rPr>
              <a:t>美味しいだけでは、もう勝てない。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2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74C3C"/>
                </a:solidFill>
                <a:latin typeface="Hiragino Sans"/>
              </a:rPr>
              <a:t>COMMON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5F5F0"/>
                </a:solidFill>
                <a:latin typeface="Hiragino Sans"/>
              </a:rPr>
              <a:t>"認証を</a:t>
            </a:r>
          </a:p>
          <a:p>
            <a:pPr algn="l"/>
            <a:r>
              <a:rPr sz="4000" b="1">
                <a:solidFill>
                  <a:srgbClr val="E74C3C"/>
                </a:solidFill>
                <a:latin typeface="Hiragino Sans"/>
              </a:rPr>
              <a:t>取っただけ"</a:t>
            </a:r>
          </a:p>
          <a:p>
            <a:pPr algn="l"/>
            <a:r>
              <a:rPr sz="3600" b="1">
                <a:solidFill>
                  <a:srgbClr val="F5F5F0"/>
                </a:solidFill>
                <a:latin typeface="Hiragino Sans"/>
              </a:rPr>
              <a:t>では、</a:t>
            </a:r>
          </a:p>
          <a:p>
            <a:pPr algn="l"/>
            <a:r>
              <a:rPr sz="2800" b="1">
                <a:solidFill>
                  <a:srgbClr val="F5F5F0"/>
                </a:solidFill>
                <a:latin typeface="Hiragino Sans"/>
              </a:rPr>
              <a:t>お客様は来ません。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66344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ハラル認証は「入場券」に過ぎません。
多くの飲食店が、この段階で止まっています。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5486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4C3C"/>
                </a:solidFill>
                <a:latin typeface="Hiragino Sans"/>
              </a:rPr>
              <a:t>よくある失敗パターン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54880" y="1005840"/>
            <a:ext cx="6949440" cy="0"/>
          </a:xfrm>
          <a:prstGeom prst="line">
            <a:avLst/>
          </a:prstGeom>
          <a:ln w="12700">
            <a:solidFill>
              <a:srgbClr val="6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54880" y="1188720"/>
            <a:ext cx="6949440" cy="530352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80" y="1188720"/>
            <a:ext cx="36576" cy="530352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2801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✕  認証取得で満足して、情報発信をしない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847088"/>
            <a:ext cx="6949440" cy="530352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847088"/>
            <a:ext cx="36576" cy="530352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938528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✕  SNS・Googleの掲載情報が未整備のまま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505456"/>
            <a:ext cx="6949440" cy="530352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505456"/>
            <a:ext cx="36576" cy="530352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596896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✕  スタッフがイスラム文化を理解していない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163824"/>
            <a:ext cx="6949440" cy="530352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163824"/>
            <a:ext cx="36576" cy="530352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255264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✕  海外向けメニューや多言語対応がない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822192"/>
            <a:ext cx="6949440" cy="530352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822192"/>
            <a:ext cx="36576" cy="530352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91363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✕  食材・調味料の見直しが不完全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480560"/>
            <a:ext cx="6949440" cy="530352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54880" y="4480560"/>
            <a:ext cx="36576" cy="530352"/>
          </a:xfrm>
          <a:prstGeom prst="rect">
            <a:avLst/>
          </a:prstGeom>
          <a:solidFill>
            <a:srgbClr val="8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57200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✕  現場オペレーションが続かない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5303520"/>
            <a:ext cx="6949440" cy="731520"/>
          </a:xfrm>
          <a:prstGeom prst="rect">
            <a:avLst/>
          </a:prstGeom>
          <a:solidFill>
            <a:srgbClr val="1A140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3492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9A227"/>
                </a:solidFill>
                <a:latin typeface="Hiragino Sans"/>
              </a:rPr>
              <a:t>「知られない・伝わらない・続かない」——この3つが揃うと、お客様は来ない。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Hiragino Sans"/>
              </a:rPr>
              <a:t>SUCCESS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F5F0"/>
                </a:solidFill>
                <a:latin typeface="Hiragino Sans"/>
              </a:rPr>
              <a:t>選ばれる店は、"認証"ではなく</a:t>
            </a:r>
          </a:p>
          <a:p>
            <a:pPr algn="l"/>
            <a:r>
              <a:rPr sz="3200" b="1">
                <a:solidFill>
                  <a:srgbClr val="C9A227"/>
                </a:solidFill>
                <a:latin typeface="Hiragino Sans"/>
              </a:rPr>
              <a:t>"体験"を設計しています。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0" y="320040"/>
            <a:ext cx="1280160" cy="1005840"/>
          </a:xfrm>
          <a:prstGeom prst="rect">
            <a:avLst/>
          </a:prstGeom>
          <a:solidFill>
            <a:srgbClr val="1A1605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3474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227"/>
                </a:solidFill>
                <a:latin typeface="Hiragino Sans"/>
              </a:rPr>
              <a:t>87%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9720" y="80467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  <a:latin typeface="Hiragino Sans"/>
              </a:rPr>
              <a:t>ハラル対応店のうち
来店客増加と回答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07040" y="320040"/>
            <a:ext cx="1280160" cy="1005840"/>
          </a:xfrm>
          <a:prstGeom prst="rect">
            <a:avLst/>
          </a:prstGeom>
          <a:solidFill>
            <a:srgbClr val="1A1605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0" y="34747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9A227"/>
                </a:solidFill>
                <a:latin typeface="Hiragino Sans"/>
              </a:rPr>
              <a:t>330%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804672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CCCCCC"/>
                </a:solidFill>
                <a:latin typeface="Hiragino Sans"/>
              </a:rPr>
              <a:t>PPPJ支援店舗の
最大売上UP実績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373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0632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8470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世界観の設計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店舗の雰囲気で
「ここは安心」を伝える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7373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30632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🗣️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8470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多言語接客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331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英語・アラビア語対応で
信頼感が生まれる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632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8470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SNS・写真設計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31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来店者が発信したくなる
フォトスポット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17373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30632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18470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Google/MEO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3317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検索されたとき
確実に選択肢に入る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3375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6634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34472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ストーリー発信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31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食材・調理・こだわりを
世界に伝える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3375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91840" y="46634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34472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食材の信頼性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3931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認証食材で「安心」を
食材レベルから証明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3375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46634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34472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口コミ設計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931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TripAdvisor等で
口コミが連鎖する仕組み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0" y="3337560"/>
            <a:ext cx="265176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0" y="4663440"/>
            <a:ext cx="2651760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5F5F0"/>
                </a:solidFill>
                <a:latin typeface="Hiragino Sans"/>
              </a:rPr>
              <a:t>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38360" y="344728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5F0"/>
                </a:solidFill>
                <a:latin typeface="Hiragino Sans"/>
              </a:rPr>
              <a:t>継続運用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393192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数値を追い
改善し続ける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029200"/>
            <a:ext cx="3657600" cy="685800"/>
          </a:xfrm>
          <a:prstGeom prst="rect">
            <a:avLst/>
          </a:prstGeom>
          <a:solidFill>
            <a:srgbClr val="0E221B"/>
          </a:solidFill>
          <a:ln w="12700">
            <a:solidFill>
              <a:srgbClr val="3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07492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2B788"/>
                </a:solidFill>
                <a:latin typeface="Hiragino Sans"/>
              </a:rPr>
              <a:t>＋35%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37360" y="50749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那覇市 ハラル対応店
イスラム圏観光客増加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5029200"/>
            <a:ext cx="3657600" cy="685800"/>
          </a:xfrm>
          <a:prstGeom prst="rect">
            <a:avLst/>
          </a:prstGeom>
          <a:solidFill>
            <a:srgbClr val="0E221B"/>
          </a:solidFill>
          <a:ln w="12700">
            <a:solidFill>
              <a:srgbClr val="3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0560" y="507492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2B788"/>
                </a:solidFill>
                <a:latin typeface="Hiragino Sans"/>
              </a:rPr>
              <a:t>＋26%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50749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金沢市 外国人客数増加
客単価+¥1,200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5029200"/>
            <a:ext cx="3657600" cy="685800"/>
          </a:xfrm>
          <a:prstGeom prst="rect">
            <a:avLst/>
          </a:prstGeom>
          <a:solidFill>
            <a:srgbClr val="0E221B"/>
          </a:solidFill>
          <a:ln w="12700">
            <a:solidFill>
              <a:srgbClr val="3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507492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2B788"/>
                </a:solidFill>
                <a:latin typeface="Hiragino Sans"/>
              </a:rPr>
              <a:t>3ヶ月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507492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最短の投資回収期間
（PPPJ支援実績）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C9A227"/>
                </a:solidFill>
                <a:latin typeface="Hiragino Sans"/>
              </a:rP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Hiragino Sans"/>
              </a:rPr>
              <a:t>ハラル対応は、</a:t>
            </a:r>
          </a:p>
          <a:p>
            <a:pPr algn="l"/>
            <a:r>
              <a:rPr sz="3000" b="1">
                <a:solidFill>
                  <a:srgbClr val="C9A227"/>
                </a:solidFill>
                <a:latin typeface="Hiragino Sans"/>
              </a:rPr>
              <a:t>"宗教対応"だけでは</a:t>
            </a:r>
          </a:p>
          <a:p>
            <a:pPr algn="l"/>
            <a:r>
              <a:rPr sz="3000" b="1">
                <a:solidFill>
                  <a:srgbClr val="F5F5F0"/>
                </a:solidFill>
                <a:latin typeface="Hiragino Sans"/>
              </a:rPr>
              <a:t>ありません。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560320"/>
            <a:ext cx="484632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9A227"/>
                </a:solidFill>
                <a:latin typeface="Hiragino Sans"/>
              </a:rPr>
              <a:t>"世界中のお客様に</a:t>
            </a:r>
          </a:p>
          <a:p>
            <a:pPr algn="l"/>
            <a:r>
              <a:rPr sz="2000" b="1">
                <a:solidFill>
                  <a:srgbClr val="C9A227"/>
                </a:solidFill>
                <a:latin typeface="Hiragino Sans"/>
              </a:rPr>
              <a:t>選ばれる入口"になっています。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484632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  <a:latin typeface="Hiragino Sans"/>
              </a:rPr>
              <a:t>ムスリム市場は「特別対応」ではありません。
今、最も成長速度の高い顧客セグメントです。
宗教色を超えた「世界標準のホスピタリティ」です。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0"/>
            <a:ext cx="6492240" cy="6858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502920"/>
            <a:ext cx="6126480" cy="1508760"/>
          </a:xfrm>
          <a:prstGeom prst="rect">
            <a:avLst/>
          </a:prstGeom>
          <a:solidFill>
            <a:srgbClr val="0A2215"/>
          </a:solidFill>
          <a:ln w="12700">
            <a:solidFill>
              <a:srgbClr val="408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64008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22億人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6400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2030年の世界ムスリム人口予測
世界人口の4人に1人がムスリムへ。
東南アジア・中東からの訪日客も急増中。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2240280"/>
            <a:ext cx="6126480" cy="1508760"/>
          </a:xfrm>
          <a:prstGeom prst="rect">
            <a:avLst/>
          </a:prstGeom>
          <a:solidFill>
            <a:srgbClr val="0A2215"/>
          </a:solidFill>
          <a:ln w="12700">
            <a:solidFill>
              <a:srgbClr val="408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37744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150万人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7744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年間訪日ムスリム観光客数
2004年の15万人から約7倍に急拡大。
インバウンド復活でさらに加速中。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977640"/>
            <a:ext cx="6126480" cy="1508760"/>
          </a:xfrm>
          <a:prstGeom prst="rect">
            <a:avLst/>
          </a:prstGeom>
          <a:solidFill>
            <a:srgbClr val="0A2215"/>
          </a:solidFill>
          <a:ln w="12700">
            <a:solidFill>
              <a:srgbClr val="408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1148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C9A227"/>
                </a:solidFill>
                <a:latin typeface="Hiragino Sans"/>
              </a:rPr>
              <a:t>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11480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日本のハラル対応店舗割合
2019年時点でわずか242店。
需要に対して供給が圧倒的に不足。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5669280"/>
            <a:ext cx="6126480" cy="640080"/>
          </a:xfrm>
          <a:prstGeom prst="rect">
            <a:avLst/>
          </a:prstGeom>
          <a:solidFill>
            <a:srgbClr val="1A140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5669280"/>
            <a:ext cx="6126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227"/>
                </a:solidFill>
                <a:latin typeface="Hiragino Sans"/>
              </a:rPr>
              <a:t>今すぐ動けば、99%の市場に先手を打てる。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>
                <a:solidFill>
                  <a:srgbClr val="181405"/>
                </a:solidFill>
                <a:latin typeface="Hiragino Sans"/>
              </a:rPr>
              <a:t>PPPJ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457200"/>
            <a:ext cx="2286000" cy="347472"/>
          </a:xfrm>
          <a:prstGeom prst="rect">
            <a:avLst/>
          </a:prstGeom>
          <a:solidFill>
            <a:srgbClr val="250805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457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74C3C"/>
                </a:solidFill>
                <a:latin typeface="Hiragino Sans"/>
              </a:rPr>
              <a:t>NOT A CERTIFICATION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CCCCCC"/>
                </a:solidFill>
                <a:latin typeface="Hiragino Sans"/>
              </a:rPr>
              <a:t>PPPJは、</a:t>
            </a:r>
          </a:p>
          <a:p>
            <a:pPr algn="ctr"/>
            <a:r>
              <a:rPr sz="3200" b="1">
                <a:solidFill>
                  <a:srgbClr val="E74C3C"/>
                </a:solidFill>
                <a:latin typeface="Hiragino Sans"/>
              </a:rPr>
              <a:t>"認証取得会社"ではありません。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96596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>
                <a:solidFill>
                  <a:srgbClr val="C9A227"/>
                </a:solidFill>
                <a:latin typeface="Hiragino Sans"/>
              </a:rP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5F5F0"/>
                </a:solidFill>
                <a:latin typeface="Hiragino Sans"/>
              </a:rPr>
              <a:t>"売れる仕組みまで</a:t>
            </a:r>
          </a:p>
          <a:p>
            <a:pPr algn="ctr"/>
            <a:r>
              <a:rPr sz="4400" b="1">
                <a:solidFill>
                  <a:srgbClr val="C9A227"/>
                </a:solidFill>
                <a:latin typeface="Hiragino Sans"/>
              </a:rPr>
              <a:t>作る会社です。"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5760720"/>
            <a:ext cx="201168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Hiragino Sans"/>
              </a:rPr>
              <a:t>2011年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6309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設立年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0" y="5760720"/>
            <a:ext cx="201168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65760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Hiragino Sans"/>
              </a:rPr>
              <a:t>約400名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6309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従業員数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17920" y="5760720"/>
            <a:ext cx="201168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Hiragino Sans"/>
              </a:rPr>
              <a:t>日本・タイ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6309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2拠点体制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78240" y="5760720"/>
            <a:ext cx="201168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78240" y="5852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9A227"/>
                </a:solidFill>
                <a:latin typeface="Hiragino Sans"/>
              </a:rPr>
              <a:t>木原 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6309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代表取締役社長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5F5F0"/>
                </a:solidFill>
                <a:latin typeface="Hiragino Sans"/>
              </a:rPr>
              <a:t>6つの柱で、あなたの店を</a:t>
            </a:r>
          </a:p>
          <a:p>
            <a:pPr algn="ctr"/>
            <a:r>
              <a:rPr sz="2600" b="1">
                <a:solidFill>
                  <a:srgbClr val="C9A227"/>
                </a:solidFill>
                <a:latin typeface="Hiragino Sans"/>
              </a:rPr>
              <a:t>"選ばれ続ける店"にする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892040" y="1828800"/>
            <a:ext cx="2377440" cy="2377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92040" y="2286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A0A0A"/>
                </a:solidFill>
                <a:latin typeface="Hiragino Sans"/>
              </a:rPr>
              <a:t>PPPJ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2971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0A0A0A"/>
                </a:solidFill>
                <a:latin typeface="Hiragino Sans"/>
              </a:rPr>
              <a:t>People Power
Potential Japan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4206240" cy="132588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📋 ハラル認証取得支援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申請〜審査〜取得まで完全サポート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60320"/>
            <a:ext cx="4206240" cy="132588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🥩 ハラル食材の安定供給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08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天幸牛・調味料など信頼食材ネットワーク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4206240" cy="132588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206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👨‍🍳 メニュー開発サポート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63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日本食の魅力を活かしたハラル対応設計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005840"/>
            <a:ext cx="4206240" cy="132588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0972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📱 SNS・集客支援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155448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インフルエンサー施策・海外メディア連携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560320"/>
            <a:ext cx="4206240" cy="132588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6517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📍 Google / MEO 整備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310896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検索で「選ばれる店」になる情報設計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0" y="4114800"/>
            <a:ext cx="4206240" cy="132588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20" y="42062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🎓 スタッフ教育・採用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663440"/>
            <a:ext cx="3840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  <a:latin typeface="Hiragino Sans"/>
              </a:rPr>
              <a:t>インバウンド接客・イスラム文化研修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solidFill>
            <a:srgbClr val="1A140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76072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C9A227"/>
                </a:solidFill>
                <a:latin typeface="Hiragino Sans"/>
              </a:rPr>
              <a:t>認証取得から集客・リピートまで——すべてつながっています。6つが揃うから売上に直結する。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A0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2011680" cy="310896"/>
          </a:xfrm>
          <a:prstGeom prst="rect">
            <a:avLst/>
          </a:prstGeom>
          <a:noFill/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2011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9A227"/>
                </a:solidFill>
                <a:latin typeface="Hiragino Sans"/>
              </a:rPr>
              <a:t>HALAL WAGYU BRAND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5F0"/>
                </a:solidFill>
                <a:latin typeface="Hiragino Sans"/>
              </a:rPr>
              <a:t>"安心して扱える和牛"を、</a:t>
            </a:r>
          </a:p>
          <a:p>
            <a:pPr algn="l"/>
            <a:r>
              <a:rPr sz="3800" b="1">
                <a:solidFill>
                  <a:srgbClr val="C9A227"/>
                </a:solidFill>
                <a:latin typeface="Hiragino Sans"/>
              </a:rPr>
              <a:t>世界へ。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C35A"/>
                </a:solidFill>
                <a:latin typeface="Hiragino Sans"/>
              </a:rPr>
              <a:t>天 幸 牛（てんこうぎゅう）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2971800"/>
            <a:ext cx="384048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1089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自然豊かな北海道・九州の大地で、
一頭一頭に愛情を注いで育てられた黒毛和牛。
命をいただく瞬間にも、清浄さを貫く。
ハラールの教えに則ったダビーハ方式で、
ムスリムによる祈りとともに屠畜された牛肉。
それが、天幸牛。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57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A227"/>
                </a:solidFill>
                <a:latin typeface="Hiragino Sans"/>
              </a:rPr>
              <a:t>天幸牛 ブランド基準 — TENKOU WAGYU STANDARDS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37760" y="914400"/>
            <a:ext cx="676656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937760" y="1051560"/>
            <a:ext cx="30175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37760" y="1051560"/>
            <a:ext cx="54864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02352" y="1143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産地・品種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1508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北海道・九州産
黒毛和種 限定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1051560"/>
            <a:ext cx="30175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051560"/>
            <a:ext cx="54864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11430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等級・規模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15087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A4・A5のみ
提携牧場1万頭から厳選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697480"/>
            <a:ext cx="30175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2697480"/>
            <a:ext cx="54864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02352" y="2788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ハラル対応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3154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ダビーハ方式屠畜
ハラル認証食肉処理場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697480"/>
            <a:ext cx="3017520" cy="1417320"/>
          </a:xfrm>
          <a:prstGeom prst="rect">
            <a:avLst/>
          </a:prstGeom>
          <a:solidFill>
            <a:srgbClr val="161616"/>
          </a:solidFill>
          <a:ln w="12700">
            <a:solidFill>
              <a:srgbClr val="352A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697480"/>
            <a:ext cx="54864" cy="14173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27889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品質管理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1546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トレーサビリティ完全対応
牧場→加工→販売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0" y="4572000"/>
            <a:ext cx="6766560" cy="1005840"/>
          </a:xfrm>
          <a:prstGeom prst="rect">
            <a:avLst/>
          </a:prstGeom>
          <a:solidFill>
            <a:srgbClr val="1A140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74920" y="4663440"/>
            <a:ext cx="6492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5F5F0"/>
                </a:solidFill>
                <a:latin typeface="Hiragino Sans"/>
              </a:rPr>
              <a:t>「美味しい和牛を出したい」と「ムスリム客に安心してもらいたい」を、
食材の最上流から両立させる——それが天幸牛の使命です。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227"/>
                </a:solidFill>
                <a:latin typeface="Hiragino Sans"/>
              </a:rPr>
              <a:t>導入から集客まで、</a:t>
            </a:r>
          </a:p>
          <a:p>
            <a:pPr algn="ctr"/>
            <a:r>
              <a:rPr sz="3000" b="1">
                <a:solidFill>
                  <a:srgbClr val="F5F5F0"/>
                </a:solidFill>
                <a:latin typeface="Hiragino Sans"/>
              </a:rPr>
              <a:t>一気通貫で伴走します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  <a:latin typeface="Hiragino Sans"/>
              </a:rPr>
              <a:t>「何から始めればいいかわからない」を、ゼロから解決するのが私たちの役割です。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737360"/>
            <a:ext cx="2103120" cy="3200400"/>
          </a:xfrm>
          <a:prstGeom prst="rect">
            <a:avLst/>
          </a:prstGeom>
          <a:solidFill>
            <a:srgbClr val="0E221B"/>
          </a:solidFill>
          <a:ln w="12700">
            <a:solidFill>
              <a:srgbClr val="3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Hiragino Sans"/>
              </a:rP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0"/>
                </a:solidFill>
                <a:latin typeface="Hiragino Sans"/>
              </a:rPr>
              <a:t>無料ヒアリング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店舗の現状・客層・
目標をヒアリング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Hiragino San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737360"/>
            <a:ext cx="210312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Hiragino Sans"/>
              </a:rP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0"/>
                </a:solidFill>
                <a:latin typeface="Hiragino Sans"/>
              </a:rPr>
              <a:t>全体設計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認証・メニュー・
集客の全体プラン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Hiragino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83480" y="1737360"/>
            <a:ext cx="2103120" cy="3200400"/>
          </a:xfrm>
          <a:prstGeom prst="rect">
            <a:avLst/>
          </a:prstGeom>
          <a:solidFill>
            <a:srgbClr val="0E221B"/>
          </a:solidFill>
          <a:ln w="12700">
            <a:solidFill>
              <a:srgbClr val="3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Hiragino Sans"/>
              </a:rPr>
              <a:t>STEP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0"/>
                </a:solidFill>
                <a:latin typeface="Hiragino Sans"/>
              </a:rPr>
              <a:t>認証取得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申請〜取得まで
専門家が完全サポート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Hiragino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1737360"/>
            <a:ext cx="2103120" cy="320040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Hiragino Sans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0"/>
                </a:solidFill>
                <a:latin typeface="Hiragino Sans"/>
              </a:rPr>
              <a:t>集客展開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多言語SNS・Google・
インフルエンサー施策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51760"/>
            <a:ext cx="256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9A227"/>
                </a:solidFill>
                <a:latin typeface="Hiragino Sans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1737360"/>
            <a:ext cx="2103120" cy="3200400"/>
          </a:xfrm>
          <a:prstGeom prst="rect">
            <a:avLst/>
          </a:prstGeom>
          <a:solidFill>
            <a:srgbClr val="0E221B"/>
          </a:solidFill>
          <a:ln w="12700">
            <a:solidFill>
              <a:srgbClr val="307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9A227"/>
                </a:solidFill>
                <a:latin typeface="Hiragino Sans"/>
              </a:rPr>
              <a:t>STEP 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1945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5F0"/>
                </a:solidFill>
                <a:latin typeface="Hiragino Sans"/>
              </a:rPr>
              <a:t>継続改善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3836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データ・数値をもとに
PDCAを継続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5394960"/>
            <a:ext cx="5760720" cy="5943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0" y="539496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0A0A"/>
                </a:solidFill>
                <a:latin typeface="Hiragino Sans"/>
              </a:rPr>
              <a:t>▶  最短3ヶ月で投資回収の実績あり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03036" cy="6858000"/>
          </a:xfrm>
          <a:prstGeom prst="rect">
            <a:avLst/>
          </a:prstGeom>
          <a:solidFill>
            <a:srgbClr val="0D1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Hiragino Sans"/>
              </a:rPr>
              <a:t>肉の匠 将泰庵 神田店
HALAL Wagyu Yakiniku SHOUTAIAN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9A227"/>
                </a:solidFill>
                <a:latin typeface="Hiragino Sans"/>
              </a:rPr>
              <a:t>ハラル認証取得：2025年2月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C9A227"/>
                </a:solidFill>
                <a:latin typeface="Hiragino Sans"/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Hiragino Sans"/>
              </a:rPr>
              <a:t>%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Hiragino Sans"/>
              </a:rPr>
              <a:t>3月・4月にハラルインフルエンサーを導入し認知を拡大。
以降、常に100%越えをキープし続け、最大178%を記録。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5916" y="0"/>
            <a:ext cx="6003036" cy="6858000"/>
          </a:xfrm>
          <a:prstGeom prst="rect">
            <a:avLst/>
          </a:prstGeom>
          <a:solidFill>
            <a:srgbClr val="0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572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Hiragino Sans"/>
              </a:rPr>
              <a:t>しゃぶしゃぶ 将泰庵 ヨドバシHD池袋ビル店
HALAL Wagyu ShabuShabu SHOUTAIAN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9A227"/>
                </a:solidFill>
                <a:latin typeface="Hiragino Sans"/>
              </a:rPr>
              <a:t>ハラル認証取得：2025年6月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645920"/>
            <a:ext cx="5394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0" b="1">
                <a:solidFill>
                  <a:srgbClr val="C9A227"/>
                </a:solidFill>
                <a:latin typeface="Hiragino Sans"/>
              </a:rPr>
              <a:t>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1148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227"/>
                </a:solidFill>
                <a:latin typeface="Hiragino Sans"/>
              </a:rPr>
              <a:t>% 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377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Hiragino Sans"/>
              </a:rPr>
              <a:t>神田店の施策をそのまま池袋に展開。
右肩上がりの推移を描き、最大330%という驚異の数字を達成。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4476" y="457200"/>
            <a:ext cx="0" cy="594360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9A227"/>
                </a:solidFill>
                <a:latin typeface="Hiragino Sans"/>
              </a:rPr>
              <a:t>THE FUTURE OF JAPANESE RESTAURANTS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F5F0"/>
                </a:solidFill>
                <a:latin typeface="Hiragino Sans"/>
              </a:rPr>
              <a:t>これからの飲食店は、</a:t>
            </a:r>
          </a:p>
          <a:p>
            <a:pPr algn="ctr"/>
            <a:r>
              <a:rPr sz="3600" b="1">
                <a:solidFill>
                  <a:srgbClr val="C9A227"/>
                </a:solidFill>
                <a:latin typeface="Hiragino Sans"/>
              </a:rPr>
              <a:t>"美味しい"だけでは選ばれなくなる。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5F5F0"/>
                </a:solidFill>
                <a:latin typeface="Hiragino Sans"/>
              </a:rPr>
              <a:t>"誰に"——どんなお客様に来てほしいのか。</a:t>
            </a:r>
          </a:p>
          <a:p>
            <a:pPr algn="ctr"/>
            <a:r>
              <a:rPr sz="1800" b="0">
                <a:solidFill>
                  <a:srgbClr val="F5F5F0"/>
                </a:solidFill>
                <a:latin typeface="Hiragino Sans"/>
              </a:rPr>
              <a:t>"どう安心を届けるか"——その設計ができた店が、</a:t>
            </a:r>
          </a:p>
          <a:p>
            <a:pPr algn="ctr"/>
            <a:r>
              <a:rPr sz="1800" b="0">
                <a:solidFill>
                  <a:srgbClr val="F5F5F0"/>
                </a:solidFill>
                <a:latin typeface="Hiragino Sans"/>
              </a:rPr>
              <a:t>世界から選ばれ続ける店になります。</a:t>
            </a:r>
          </a:p>
          <a:p>
            <a:pPr algn="ctr"/>
            <a:r>
              <a:rPr sz="1000" b="0">
                <a:solidFill>
                  <a:srgbClr val="F5F5F0"/>
                </a:solidFill>
                <a:latin typeface="Hiragino Sans"/>
              </a:rPr>
              <a:t/>
            </a:r>
          </a:p>
          <a:p>
            <a:pPr algn="ctr"/>
            <a:r>
              <a:rPr sz="1600" b="0">
                <a:solidFill>
                  <a:srgbClr val="CCCCCC"/>
                </a:solidFill>
                <a:latin typeface="Hiragino Sans"/>
              </a:rPr>
              <a:t>ムスリム対応は「特別な配慮」ではなく、</a:t>
            </a:r>
          </a:p>
          <a:p>
            <a:pPr algn="ctr"/>
            <a:r>
              <a:rPr sz="1600" b="0">
                <a:solidFill>
                  <a:srgbClr val="CCCCCC"/>
                </a:solidFill>
                <a:latin typeface="Hiragino Sans"/>
              </a:rPr>
              <a:t>世界標準のホスピタリティです。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solidFill>
            <a:srgbClr val="1A1402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9A227"/>
                </a:solidFill>
                <a:latin typeface="Hiragino Sans"/>
              </a:rPr>
              <a:t>PPPJは、“世界中のお客様に選ばれる店づくり”を支援しています。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5852160"/>
            <a:ext cx="274320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728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Hiragino Sans"/>
              </a:rPr>
              <a:t>4,000万人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2025年 訪日外国人予測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0" y="5852160"/>
            <a:ext cx="274320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8056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Hiragino Sans"/>
              </a:rPr>
              <a:t>最大330%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PPPJ支援店舗 売上UP実績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5852160"/>
            <a:ext cx="274320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86384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9A227"/>
                </a:solidFill>
                <a:latin typeface="Hiragino Sans"/>
              </a:rPr>
              <a:t>最短3ヶ月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CCCCC"/>
                </a:solidFill>
                <a:latin typeface="Hiragino Sans"/>
              </a:rPr>
              <a:t>投資回収の実績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548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04000"/>
                </a:solidFill>
                <a:latin typeface="Hiragino Sans"/>
              </a:rPr>
              <a:t>FREE CONSULTATION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A0A0A"/>
                </a:solidFill>
                <a:latin typeface="Hiragino Sans"/>
              </a:rPr>
              <a:t>まずは、
話してみてください。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02800"/>
                </a:solidFill>
                <a:latin typeface="Hiragino Sans"/>
              </a:rPr>
              <a:t>「うちの店でできるのか？」
「規模が小さくても大丈夫？」
「何から始めればいい？」
その答えは、無料相談でわかります。
ゼロからご一緒します。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5029200"/>
            <a:ext cx="2194560" cy="5029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5029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Hiragino Sans"/>
              </a:rPr>
              <a:t>✓  初回相談 無料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457200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9A227"/>
                </a:solidFill>
                <a:latin typeface="Hiragino Sans"/>
              </a:rPr>
              <a:t>CONSULTATION MENU — ご相談内容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868680"/>
            <a:ext cx="6675120" cy="0"/>
          </a:xfrm>
          <a:prstGeom prst="line">
            <a:avLst/>
          </a:prstGeom>
          <a:ln w="127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20640" y="10515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▶  ハラル認証導入のご相談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5087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▶  天幸牛（ハラル和牛）お取り扱いのご相談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659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▶  インバウンド・SNS集客のご相談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2316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Hiragino Sans"/>
              </a:rPr>
              <a:t>▶  Google / MEO 整備のご相談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3017520"/>
            <a:ext cx="6675120" cy="77724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30449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📞  お電話でのお問い合わせ（平日10:00〜18:00）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291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5F5F0"/>
                </a:solidFill>
                <a:latin typeface="Hiragino Sans"/>
              </a:rPr>
              <a:t>047-481-8555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20640" y="3931920"/>
            <a:ext cx="6675120" cy="777240"/>
          </a:xfrm>
          <a:prstGeom prst="rect">
            <a:avLst/>
          </a:prstGeom>
          <a:solidFill>
            <a:srgbClr val="161616"/>
          </a:solidFill>
          <a:ln w="12700">
            <a:solidFill>
              <a:srgbClr val="30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395935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CCCC"/>
                </a:solidFill>
                <a:latin typeface="Hiragino Sans"/>
              </a:rPr>
              <a:t>✉️  メールでのお問い合わせ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206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5F5F0"/>
                </a:solidFill>
                <a:latin typeface="Hiragino Sans"/>
              </a:rPr>
              <a:t>office@pppj.co.jp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846320"/>
            <a:ext cx="6675120" cy="1371600"/>
          </a:xfrm>
          <a:prstGeom prst="rect">
            <a:avLst/>
          </a:prstGeom>
          <a:solidFill>
            <a:srgbClr val="161616"/>
          </a:solidFill>
          <a:ln w="12700">
            <a:solidFill>
              <a:srgbClr val="4036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0" y="4983480"/>
            <a:ext cx="1005840" cy="1005840"/>
          </a:xfrm>
          <a:prstGeom prst="rect">
            <a:avLst/>
          </a:prstGeom>
          <a:solidFill>
            <a:srgbClr val="F5F5F0"/>
          </a:solidFill>
          <a:ln w="12700">
            <a:solidFill>
              <a:srgbClr val="F5F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0" y="5212080"/>
            <a:ext cx="1005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0A0A"/>
                </a:solidFill>
                <a:latin typeface="Hiragino Sans"/>
              </a:rPr>
              <a:t>QR
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834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5F0"/>
                </a:solidFill>
                <a:latin typeface="Hiragino Sans"/>
              </a:rPr>
              <a:t>株式会社PPPJ 公式サイト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949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Hiragino Sans"/>
              </a:rPr>
              <a:t>QRコードからそのままLINEまたは
フォームでお問い合わせいただけます。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